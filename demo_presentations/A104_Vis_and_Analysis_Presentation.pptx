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9"/>
  </p:notesMasterIdLst>
  <p:sldIdLst>
    <p:sldId id="256" r:id="rId2"/>
    <p:sldId id="257" r:id="rId3"/>
    <p:sldId id="259" r:id="rId4"/>
    <p:sldId id="261" r:id="rId5"/>
    <p:sldId id="262" r:id="rId6"/>
    <p:sldId id="264" r:id="rId7"/>
    <p:sldId id="265" r:id="rId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3249">
          <p15:clr>
            <a:srgbClr val="A4A3A4"/>
          </p15:clr>
        </p15:guide>
        <p15:guide id="4" pos="7068">
          <p15:clr>
            <a:srgbClr val="A4A3A4"/>
          </p15:clr>
        </p15:guide>
        <p15:guide id="5" orient="horz" pos="13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546167-77AF-D2AC-1A99-E07477C0F94B}" v="4" dt="2025-12-06T15:00:31.992"/>
    <p1510:client id="{75EF905B-8216-F3C6-2E53-187A9D15709F}" v="228" dt="2025-12-08T13:38:01.3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666" y="-90"/>
      </p:cViewPr>
      <p:guideLst>
        <p:guide orient="horz" pos="2160"/>
        <p:guide pos="3840"/>
        <p:guide orient="horz" pos="3249"/>
        <p:guide pos="7068"/>
        <p:guide orient="horz" pos="13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 name="Google Shape;9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age">
  <p:cSld name="Title page">
    <p:bg>
      <p:bgPr>
        <a:solidFill>
          <a:schemeClr val="lt1"/>
        </a:solidFill>
        <a:effectLst/>
      </p:bgPr>
    </p:bg>
    <p:spTree>
      <p:nvGrpSpPr>
        <p:cNvPr id="1" name="Shape 14"/>
        <p:cNvGrpSpPr/>
        <p:nvPr/>
      </p:nvGrpSpPr>
      <p:grpSpPr>
        <a:xfrm>
          <a:off x="0" y="0"/>
          <a:ext cx="0" cy="0"/>
          <a:chOff x="0" y="0"/>
          <a:chExt cx="0" cy="0"/>
        </a:xfrm>
      </p:grpSpPr>
      <p:sp>
        <p:nvSpPr>
          <p:cNvPr id="15" name="Google Shape;15;p2"/>
          <p:cNvSpPr txBox="1">
            <a:spLocks noGrp="1"/>
          </p:cNvSpPr>
          <p:nvPr>
            <p:ph type="subTitle" idx="1"/>
          </p:nvPr>
        </p:nvSpPr>
        <p:spPr>
          <a:xfrm>
            <a:off x="954000" y="1890000"/>
            <a:ext cx="7200000" cy="3600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2"/>
              </a:buClr>
              <a:buSzPts val="3600"/>
              <a:buNone/>
              <a:defRPr sz="3600" b="1">
                <a:solidFill>
                  <a:schemeClr val="dk2"/>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6" name="Google Shape;16;p2"/>
          <p:cNvSpPr txBox="1">
            <a:spLocks noGrp="1"/>
          </p:cNvSpPr>
          <p:nvPr>
            <p:ph type="ftr" idx="11"/>
          </p:nvPr>
        </p:nvSpPr>
        <p:spPr>
          <a:xfrm>
            <a:off x="965289" y="791022"/>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rgbClr val="8F989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i="0" u="none" strike="noStrike" cap="none">
                <a:solidFill>
                  <a:srgbClr val="8F9898"/>
                </a:solidFill>
                <a:latin typeface="Arial"/>
                <a:ea typeface="Arial"/>
                <a:cs typeface="Arial"/>
                <a:sym typeface="Arial"/>
              </a:defRPr>
            </a:lvl1pPr>
            <a:lvl2pPr marL="0" lvl="1" indent="0" algn="r">
              <a:spcBef>
                <a:spcPts val="0"/>
              </a:spcBef>
              <a:buNone/>
              <a:defRPr sz="1500" b="1" i="0" u="none" strike="noStrike" cap="none">
                <a:solidFill>
                  <a:srgbClr val="8F9898"/>
                </a:solidFill>
                <a:latin typeface="Arial"/>
                <a:ea typeface="Arial"/>
                <a:cs typeface="Arial"/>
                <a:sym typeface="Arial"/>
              </a:defRPr>
            </a:lvl2pPr>
            <a:lvl3pPr marL="0" lvl="2" indent="0" algn="r">
              <a:spcBef>
                <a:spcPts val="0"/>
              </a:spcBef>
              <a:buNone/>
              <a:defRPr sz="1500" b="1" i="0" u="none" strike="noStrike" cap="none">
                <a:solidFill>
                  <a:srgbClr val="8F9898"/>
                </a:solidFill>
                <a:latin typeface="Arial"/>
                <a:ea typeface="Arial"/>
                <a:cs typeface="Arial"/>
                <a:sym typeface="Arial"/>
              </a:defRPr>
            </a:lvl3pPr>
            <a:lvl4pPr marL="0" lvl="3" indent="0" algn="r">
              <a:spcBef>
                <a:spcPts val="0"/>
              </a:spcBef>
              <a:buNone/>
              <a:defRPr sz="1500" b="1" i="0" u="none" strike="noStrike" cap="none">
                <a:solidFill>
                  <a:srgbClr val="8F9898"/>
                </a:solidFill>
                <a:latin typeface="Arial"/>
                <a:ea typeface="Arial"/>
                <a:cs typeface="Arial"/>
                <a:sym typeface="Arial"/>
              </a:defRPr>
            </a:lvl4pPr>
            <a:lvl5pPr marL="0" lvl="4" indent="0" algn="r">
              <a:spcBef>
                <a:spcPts val="0"/>
              </a:spcBef>
              <a:buNone/>
              <a:defRPr sz="1500" b="1" i="0" u="none" strike="noStrike" cap="none">
                <a:solidFill>
                  <a:srgbClr val="8F9898"/>
                </a:solidFill>
                <a:latin typeface="Arial"/>
                <a:ea typeface="Arial"/>
                <a:cs typeface="Arial"/>
                <a:sym typeface="Arial"/>
              </a:defRPr>
            </a:lvl5pPr>
            <a:lvl6pPr marL="0" lvl="5" indent="0" algn="r">
              <a:spcBef>
                <a:spcPts val="0"/>
              </a:spcBef>
              <a:buNone/>
              <a:defRPr sz="1500" b="1" i="0" u="none" strike="noStrike" cap="none">
                <a:solidFill>
                  <a:srgbClr val="8F9898"/>
                </a:solidFill>
                <a:latin typeface="Arial"/>
                <a:ea typeface="Arial"/>
                <a:cs typeface="Arial"/>
                <a:sym typeface="Arial"/>
              </a:defRPr>
            </a:lvl6pPr>
            <a:lvl7pPr marL="0" lvl="6" indent="0" algn="r">
              <a:spcBef>
                <a:spcPts val="0"/>
              </a:spcBef>
              <a:buNone/>
              <a:defRPr sz="1500" b="1" i="0" u="none" strike="noStrike" cap="none">
                <a:solidFill>
                  <a:srgbClr val="8F9898"/>
                </a:solidFill>
                <a:latin typeface="Arial"/>
                <a:ea typeface="Arial"/>
                <a:cs typeface="Arial"/>
                <a:sym typeface="Arial"/>
              </a:defRPr>
            </a:lvl7pPr>
            <a:lvl8pPr marL="0" lvl="7" indent="0" algn="r">
              <a:spcBef>
                <a:spcPts val="0"/>
              </a:spcBef>
              <a:buNone/>
              <a:defRPr sz="1500" b="1" i="0" u="none" strike="noStrike" cap="none">
                <a:solidFill>
                  <a:srgbClr val="8F9898"/>
                </a:solidFill>
                <a:latin typeface="Arial"/>
                <a:ea typeface="Arial"/>
                <a:cs typeface="Arial"/>
                <a:sym typeface="Arial"/>
              </a:defRPr>
            </a:lvl8pPr>
            <a:lvl9pPr marL="0" lvl="8" indent="0" algn="r">
              <a:spcBef>
                <a:spcPts val="0"/>
              </a:spcBef>
              <a:buNone/>
              <a:defRPr sz="1500" b="1" i="0" u="none" strike="noStrike" cap="none">
                <a:solidFill>
                  <a:srgbClr val="8F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
        <p:nvSpPr>
          <p:cNvPr id="18" name="Google Shape;18;p2"/>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a:bodyPr>
          <a:lstStyle>
            <a:lvl1pPr lvl="0" algn="l">
              <a:lnSpc>
                <a:spcPct val="106666"/>
              </a:lnSpc>
              <a:spcBef>
                <a:spcPts val="0"/>
              </a:spcBef>
              <a:spcAft>
                <a:spcPts val="0"/>
              </a:spcAft>
              <a:buClr>
                <a:schemeClr val="dk1"/>
              </a:buClr>
              <a:buSzPts val="7500"/>
              <a:buFont typeface="Arial"/>
              <a:buNone/>
              <a:defRPr sz="75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accent1"/>
              </a:solidFill>
              <a:latin typeface="Arial"/>
              <a:ea typeface="Arial"/>
              <a:cs typeface="Arial"/>
              <a:sym typeface="Arial"/>
            </a:endParaRPr>
          </a:p>
        </p:txBody>
      </p:sp>
      <p:pic>
        <p:nvPicPr>
          <p:cNvPr id="20" name="Google Shape;20;p2"/>
          <p:cNvPicPr preferRelativeResize="0"/>
          <p:nvPr/>
        </p:nvPicPr>
        <p:blipFill rotWithShape="1">
          <a:blip r:embed="rId2">
            <a:alphaModFix/>
          </a:blip>
          <a:srcRect/>
          <a:stretch/>
        </p:blipFill>
        <p:spPr>
          <a:xfrm>
            <a:off x="953998" y="5517266"/>
            <a:ext cx="2244881" cy="396903"/>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chemeClr val="lt1"/>
        </a:solidFill>
        <a:effectLst/>
      </p:bgPr>
    </p:bg>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970139" y="2717600"/>
            <a:ext cx="10251722" cy="31752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
        <p:nvSpPr>
          <p:cNvPr id="26" name="Google Shape;26;p3"/>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 type="title">
  <p:cSld name="TITLE">
    <p:bg>
      <p:bgPr>
        <a:solidFill>
          <a:schemeClr val="accent1"/>
        </a:solidFill>
        <a:effectLst/>
      </p:bgPr>
    </p:bg>
    <p:spTree>
      <p:nvGrpSpPr>
        <p:cNvPr id="1" name="Shape 27"/>
        <p:cNvGrpSpPr/>
        <p:nvPr/>
      </p:nvGrpSpPr>
      <p:grpSpPr>
        <a:xfrm>
          <a:off x="0" y="0"/>
          <a:ext cx="0" cy="0"/>
          <a:chOff x="0" y="0"/>
          <a:chExt cx="0" cy="0"/>
        </a:xfrm>
      </p:grpSpPr>
      <p:sp>
        <p:nvSpPr>
          <p:cNvPr id="28" name="Google Shape;28;p4"/>
          <p:cNvSpPr txBox="1">
            <a:spLocks noGrp="1"/>
          </p:cNvSpPr>
          <p:nvPr>
            <p:ph type="ctrTitle"/>
          </p:nvPr>
        </p:nvSpPr>
        <p:spPr>
          <a:xfrm>
            <a:off x="953999" y="2579715"/>
            <a:ext cx="10031157" cy="2160000"/>
          </a:xfrm>
          <a:prstGeom prst="rect">
            <a:avLst/>
          </a:prstGeom>
          <a:noFill/>
          <a:ln>
            <a:noFill/>
          </a:ln>
        </p:spPr>
        <p:txBody>
          <a:bodyPr spcFirstLastPara="1" wrap="square" lIns="0" tIns="0" rIns="0" bIns="0" anchor="t" anchorCtr="0">
            <a:normAutofit/>
          </a:bodyPr>
          <a:lstStyle>
            <a:lvl1pPr lvl="0" algn="l">
              <a:lnSpc>
                <a:spcPct val="106666"/>
              </a:lnSpc>
              <a:spcBef>
                <a:spcPts val="0"/>
              </a:spcBef>
              <a:spcAft>
                <a:spcPts val="0"/>
              </a:spcAft>
              <a:buClr>
                <a:schemeClr val="lt1"/>
              </a:buClr>
              <a:buSzPts val="7500"/>
              <a:buFont typeface="Arial"/>
              <a:buNone/>
              <a:defRPr sz="75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subTitle" idx="1"/>
          </p:nvPr>
        </p:nvSpPr>
        <p:spPr>
          <a:xfrm>
            <a:off x="954000" y="1890000"/>
            <a:ext cx="10031156" cy="3600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600"/>
              <a:buNone/>
              <a:defRPr sz="3600" b="1">
                <a:solidFill>
                  <a:schemeClr val="lt1"/>
                </a:solidFill>
              </a:defRPr>
            </a:lvl1pPr>
            <a:lvl2pPr lvl="1" algn="ctr">
              <a:lnSpc>
                <a:spcPct val="144000"/>
              </a:lnSpc>
              <a:spcBef>
                <a:spcPts val="992"/>
              </a:spcBef>
              <a:spcAft>
                <a:spcPts val="0"/>
              </a:spcAft>
              <a:buClr>
                <a:srgbClr val="203232"/>
              </a:buClr>
              <a:buSzPts val="2000"/>
              <a:buNone/>
              <a:defRPr sz="2000"/>
            </a:lvl2pPr>
            <a:lvl3pPr lvl="2" algn="ctr">
              <a:lnSpc>
                <a:spcPct val="160000"/>
              </a:lnSpc>
              <a:spcBef>
                <a:spcPts val="992"/>
              </a:spcBef>
              <a:spcAft>
                <a:spcPts val="0"/>
              </a:spcAft>
              <a:buClr>
                <a:srgbClr val="203232"/>
              </a:buClr>
              <a:buSzPts val="1800"/>
              <a:buNone/>
              <a:defRPr sz="1800"/>
            </a:lvl3pPr>
            <a:lvl4pPr lvl="3" algn="ctr">
              <a:lnSpc>
                <a:spcPct val="135000"/>
              </a:lnSpc>
              <a:spcBef>
                <a:spcPts val="992"/>
              </a:spcBef>
              <a:spcAft>
                <a:spcPts val="0"/>
              </a:spcAft>
              <a:buClr>
                <a:srgbClr val="203232"/>
              </a:buClr>
              <a:buSzPts val="1600"/>
              <a:buNone/>
              <a:defRPr sz="1600"/>
            </a:lvl4pPr>
            <a:lvl5pPr lvl="4" algn="ctr">
              <a:lnSpc>
                <a:spcPct val="135000"/>
              </a:lnSpc>
              <a:spcBef>
                <a:spcPts val="0"/>
              </a:spcBef>
              <a:spcAft>
                <a:spcPts val="0"/>
              </a:spcAft>
              <a:buClr>
                <a:srgbClr val="203232"/>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0" name="Google Shape;30;p4"/>
          <p:cNvSpPr txBox="1">
            <a:spLocks noGrp="1"/>
          </p:cNvSpPr>
          <p:nvPr>
            <p:ph type="ftr" idx="11"/>
          </p:nvPr>
        </p:nvSpPr>
        <p:spPr>
          <a:xfrm>
            <a:off x="965289" y="779733"/>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10616400" y="779733"/>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pic>
        <p:nvPicPr>
          <p:cNvPr id="32" name="Google Shape;32;p4" descr="A picture containing drawing&#10;&#10;Description automatically generated"/>
          <p:cNvPicPr preferRelativeResize="0"/>
          <p:nvPr/>
        </p:nvPicPr>
        <p:blipFill rotWithShape="1">
          <a:blip r:embed="rId2">
            <a:alphaModFix/>
          </a:blip>
          <a:srcRect/>
          <a:stretch/>
        </p:blipFill>
        <p:spPr>
          <a:xfrm>
            <a:off x="954000" y="5511600"/>
            <a:ext cx="2242800" cy="39795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3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ver">
  <p:cSld name="Cover">
    <p:bg>
      <p:bgPr>
        <a:blipFill>
          <a:blip r:embed="rId2">
            <a:alphaModFix/>
          </a:blip>
          <a:stretch>
            <a:fillRect/>
          </a:stretch>
        </a:blipFill>
        <a:effectLst/>
      </p:bgPr>
    </p:bg>
    <p:spTree>
      <p:nvGrpSpPr>
        <p:cNvPr id="1" name="Shape 34"/>
        <p:cNvGrpSpPr/>
        <p:nvPr/>
      </p:nvGrpSpPr>
      <p:grpSpPr>
        <a:xfrm>
          <a:off x="0" y="0"/>
          <a:ext cx="0" cy="0"/>
          <a:chOff x="0" y="0"/>
          <a:chExt cx="0" cy="0"/>
        </a:xfrm>
      </p:grpSpPr>
      <p:pic>
        <p:nvPicPr>
          <p:cNvPr id="35" name="Google Shape;35;p6" descr="University of Hertfordshire logo"/>
          <p:cNvPicPr preferRelativeResize="0"/>
          <p:nvPr/>
        </p:nvPicPr>
        <p:blipFill rotWithShape="1">
          <a:blip r:embed="rId3">
            <a:alphaModFix/>
          </a:blip>
          <a:srcRect/>
          <a:stretch/>
        </p:blipFill>
        <p:spPr>
          <a:xfrm>
            <a:off x="2844000" y="2854800"/>
            <a:ext cx="6501600" cy="115363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ntent" type="twoObj">
  <p:cSld name="TWO_OBJECTS">
    <p:bg>
      <p:bgPr>
        <a:solidFill>
          <a:schemeClr val="lt1"/>
        </a:solidFill>
        <a:effectLst/>
      </p:bgPr>
    </p:bg>
    <p:spTree>
      <p:nvGrpSpPr>
        <p:cNvPr id="1" name="Shape 36"/>
        <p:cNvGrpSpPr/>
        <p:nvPr/>
      </p:nvGrpSpPr>
      <p:grpSpPr>
        <a:xfrm>
          <a:off x="0" y="0"/>
          <a:ext cx="0" cy="0"/>
          <a:chOff x="0" y="0"/>
          <a:chExt cx="0" cy="0"/>
        </a:xfrm>
      </p:grpSpPr>
      <p:sp>
        <p:nvSpPr>
          <p:cNvPr id="37" name="Google Shape;37;p7"/>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7"/>
          <p:cNvSpPr txBox="1">
            <a:spLocks noGrp="1"/>
          </p:cNvSpPr>
          <p:nvPr>
            <p:ph type="body" idx="1"/>
          </p:nvPr>
        </p:nvSpPr>
        <p:spPr>
          <a:xfrm>
            <a:off x="973668" y="2717444"/>
            <a:ext cx="4903200" cy="31752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7"/>
          <p:cNvSpPr txBox="1">
            <a:spLocks noGrp="1"/>
          </p:cNvSpPr>
          <p:nvPr>
            <p:ph type="body" idx="2"/>
          </p:nvPr>
        </p:nvSpPr>
        <p:spPr>
          <a:xfrm>
            <a:off x="6336000" y="2717444"/>
            <a:ext cx="4456800" cy="3175200"/>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7"/>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7"/>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
        <p:nvSpPr>
          <p:cNvPr id="42" name="Google Shape;42;p7"/>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pos="6805">
          <p15:clr>
            <a:srgbClr val="FBAE40"/>
          </p15:clr>
        </p15:guide>
        <p15:guide id="2" pos="3989">
          <p15:clr>
            <a:srgbClr val="FBAE40"/>
          </p15:clr>
        </p15:guide>
        <p15:guide id="3" pos="3705">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Content Large">
  <p:cSld name="Title and Content Large">
    <p:bg>
      <p:bgPr>
        <a:solidFill>
          <a:schemeClr val="lt1"/>
        </a:solidFill>
        <a:effectLst/>
      </p:bgPr>
    </p:bg>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954000" y="775255"/>
            <a:ext cx="7361569"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8"/>
          <p:cNvSpPr txBox="1">
            <a:spLocks noGrp="1"/>
          </p:cNvSpPr>
          <p:nvPr>
            <p:ph type="body" idx="1"/>
          </p:nvPr>
        </p:nvSpPr>
        <p:spPr>
          <a:xfrm>
            <a:off x="970139" y="1367692"/>
            <a:ext cx="10251722" cy="492369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8"/>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
        <p:nvSpPr>
          <p:cNvPr id="47" name="Google Shape;47;p8"/>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Large blue">
  <p:cSld name="Title and Content Large blue">
    <p:bg>
      <p:bgPr>
        <a:solidFill>
          <a:schemeClr val="accent1"/>
        </a:solidFill>
        <a:effectLst/>
      </p:bgPr>
    </p:bg>
    <p:spTree>
      <p:nvGrpSpPr>
        <p:cNvPr id="1" name="Shape 48"/>
        <p:cNvGrpSpPr/>
        <p:nvPr/>
      </p:nvGrpSpPr>
      <p:grpSpPr>
        <a:xfrm>
          <a:off x="0" y="0"/>
          <a:ext cx="0" cy="0"/>
          <a:chOff x="0" y="0"/>
          <a:chExt cx="0" cy="0"/>
        </a:xfrm>
      </p:grpSpPr>
      <p:sp>
        <p:nvSpPr>
          <p:cNvPr id="49" name="Google Shape;49;p9"/>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
        <p:nvSpPr>
          <p:cNvPr id="50" name="Google Shape;50;p9"/>
          <p:cNvSpPr txBox="1">
            <a:spLocks noGrp="1"/>
          </p:cNvSpPr>
          <p:nvPr>
            <p:ph type="body" idx="1"/>
          </p:nvPr>
        </p:nvSpPr>
        <p:spPr>
          <a:xfrm>
            <a:off x="970139" y="1367692"/>
            <a:ext cx="10251722" cy="4923693"/>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chemeClr val="lt1"/>
              </a:buClr>
              <a:buSzPts val="2400"/>
              <a:buNone/>
              <a:defRPr b="0">
                <a:solidFill>
                  <a:schemeClr val="lt1"/>
                </a:solidFill>
              </a:defRPr>
            </a:lvl1pPr>
            <a:lvl2pPr marL="914400" lvl="1" indent="-228600" algn="l">
              <a:lnSpc>
                <a:spcPct val="120000"/>
              </a:lnSpc>
              <a:spcBef>
                <a:spcPts val="992"/>
              </a:spcBef>
              <a:spcAft>
                <a:spcPts val="0"/>
              </a:spcAft>
              <a:buClr>
                <a:schemeClr val="lt1"/>
              </a:buClr>
              <a:buSzPts val="2400"/>
              <a:buNone/>
              <a:defRPr>
                <a:solidFill>
                  <a:schemeClr val="lt1"/>
                </a:solidFill>
              </a:defRPr>
            </a:lvl2pPr>
            <a:lvl3pPr marL="1371600" lvl="2" indent="-381000" algn="l">
              <a:lnSpc>
                <a:spcPct val="120000"/>
              </a:lnSpc>
              <a:spcBef>
                <a:spcPts val="992"/>
              </a:spcBef>
              <a:spcAft>
                <a:spcPts val="0"/>
              </a:spcAft>
              <a:buClr>
                <a:schemeClr val="lt1"/>
              </a:buClr>
              <a:buSzPts val="2400"/>
              <a:buChar char="■"/>
              <a:defRPr>
                <a:solidFill>
                  <a:schemeClr val="lt1"/>
                </a:solidFill>
              </a:defRPr>
            </a:lvl3pPr>
            <a:lvl4pPr marL="1828800" lvl="3" indent="-228600" algn="l">
              <a:lnSpc>
                <a:spcPct val="120000"/>
              </a:lnSpc>
              <a:spcBef>
                <a:spcPts val="992"/>
              </a:spcBef>
              <a:spcAft>
                <a:spcPts val="0"/>
              </a:spcAft>
              <a:buClr>
                <a:schemeClr val="lt1"/>
              </a:buClr>
              <a:buSzPts val="1800"/>
              <a:buNone/>
              <a:defRPr>
                <a:solidFill>
                  <a:schemeClr val="lt1"/>
                </a:solidFill>
              </a:defRPr>
            </a:lvl4pPr>
            <a:lvl5pPr marL="2286000" lvl="4" indent="-228600" algn="l">
              <a:lnSpc>
                <a:spcPct val="120000"/>
              </a:lnSpc>
              <a:spcBef>
                <a:spcPts val="0"/>
              </a:spcBef>
              <a:spcAft>
                <a:spcPts val="0"/>
              </a:spcAft>
              <a:buClr>
                <a:schemeClr val="lt1"/>
              </a:buClr>
              <a:buSzPts val="1800"/>
              <a:buNone/>
              <a:defRPr>
                <a:solidFill>
                  <a:schemeClr val="lt1"/>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9"/>
          <p:cNvSpPr txBox="1">
            <a:spLocks noGrp="1"/>
          </p:cNvSpPr>
          <p:nvPr>
            <p:ph type="title"/>
          </p:nvPr>
        </p:nvSpPr>
        <p:spPr>
          <a:xfrm>
            <a:off x="954000" y="775255"/>
            <a:ext cx="7361569" cy="365125"/>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 Image + Content">
  <p:cSld name="Title + Image + Content">
    <p:bg>
      <p:bgPr>
        <a:solidFill>
          <a:schemeClr val="lt1"/>
        </a:solidFill>
        <a:effectLst/>
      </p:bgPr>
    </p:bg>
    <p:spTree>
      <p:nvGrpSpPr>
        <p:cNvPr id="1" name="Shape 52"/>
        <p:cNvGrpSpPr/>
        <p:nvPr/>
      </p:nvGrpSpPr>
      <p:grpSpPr>
        <a:xfrm>
          <a:off x="0" y="0"/>
          <a:ext cx="0" cy="0"/>
          <a:chOff x="0" y="0"/>
          <a:chExt cx="0" cy="0"/>
        </a:xfrm>
      </p:grpSpPr>
      <p:sp>
        <p:nvSpPr>
          <p:cNvPr id="53" name="Google Shape;53;p10"/>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10"/>
          <p:cNvSpPr txBox="1">
            <a:spLocks noGrp="1"/>
          </p:cNvSpPr>
          <p:nvPr>
            <p:ph type="body" idx="1"/>
          </p:nvPr>
        </p:nvSpPr>
        <p:spPr>
          <a:xfrm>
            <a:off x="7835952" y="2728800"/>
            <a:ext cx="2959200"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10"/>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0"/>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
        <p:nvSpPr>
          <p:cNvPr id="57" name="Google Shape;57;p10"/>
          <p:cNvSpPr>
            <a:spLocks noGrp="1"/>
          </p:cNvSpPr>
          <p:nvPr>
            <p:ph type="pic" idx="2"/>
          </p:nvPr>
        </p:nvSpPr>
        <p:spPr>
          <a:xfrm>
            <a:off x="954088" y="2728913"/>
            <a:ext cx="6400800" cy="4129087"/>
          </a:xfrm>
          <a:prstGeom prst="rect">
            <a:avLst/>
          </a:prstGeom>
          <a:noFill/>
          <a:ln>
            <a:noFill/>
          </a:ln>
        </p:spPr>
      </p:sp>
      <p:sp>
        <p:nvSpPr>
          <p:cNvPr id="58" name="Google Shape;58;p10"/>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 Content + 2 Images">
  <p:cSld name="Title + Content + 2 Images">
    <p:bg>
      <p:bgPr>
        <a:solidFill>
          <a:schemeClr val="lt1"/>
        </a:solidFill>
        <a:effectLst/>
      </p:bgPr>
    </p:bg>
    <p:spTree>
      <p:nvGrpSpPr>
        <p:cNvPr id="1" name="Shape 59"/>
        <p:cNvGrpSpPr/>
        <p:nvPr/>
      </p:nvGrpSpPr>
      <p:grpSpPr>
        <a:xfrm>
          <a:off x="0" y="0"/>
          <a:ext cx="0" cy="0"/>
          <a:chOff x="0" y="0"/>
          <a:chExt cx="0" cy="0"/>
        </a:xfrm>
      </p:grpSpPr>
      <p:sp>
        <p:nvSpPr>
          <p:cNvPr id="60" name="Google Shape;60;p11"/>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lvl="0" algn="l">
              <a:lnSpc>
                <a:spcPct val="200000"/>
              </a:lnSpc>
              <a:spcBef>
                <a:spcPts val="0"/>
              </a:spcBef>
              <a:spcAft>
                <a:spcPts val="0"/>
              </a:spcAft>
              <a:buClr>
                <a:srgbClr val="20323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1"/>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1"/>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
        <p:nvSpPr>
          <p:cNvPr id="63" name="Google Shape;63;p11"/>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4" name="Google Shape;64;p11"/>
          <p:cNvSpPr txBox="1">
            <a:spLocks noGrp="1"/>
          </p:cNvSpPr>
          <p:nvPr>
            <p:ph type="body" idx="1"/>
          </p:nvPr>
        </p:nvSpPr>
        <p:spPr>
          <a:xfrm>
            <a:off x="953999"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11"/>
          <p:cNvSpPr txBox="1">
            <a:spLocks noGrp="1"/>
          </p:cNvSpPr>
          <p:nvPr>
            <p:ph type="body" idx="2"/>
          </p:nvPr>
        </p:nvSpPr>
        <p:spPr>
          <a:xfrm>
            <a:off x="8278804"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11"/>
          <p:cNvSpPr txBox="1">
            <a:spLocks noGrp="1"/>
          </p:cNvSpPr>
          <p:nvPr>
            <p:ph type="body" idx="3"/>
          </p:nvPr>
        </p:nvSpPr>
        <p:spPr>
          <a:xfrm>
            <a:off x="4613975" y="2728800"/>
            <a:ext cx="2959199" cy="3164000"/>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Full Bleed Image">
  <p:cSld name="Full Bleed Image">
    <p:bg>
      <p:bgPr>
        <a:solidFill>
          <a:schemeClr val="accent1"/>
        </a:solidFill>
        <a:effectLst/>
      </p:bgPr>
    </p:bg>
    <p:spTree>
      <p:nvGrpSpPr>
        <p:cNvPr id="1" name="Shape 67"/>
        <p:cNvGrpSpPr/>
        <p:nvPr/>
      </p:nvGrpSpPr>
      <p:grpSpPr>
        <a:xfrm>
          <a:off x="0" y="0"/>
          <a:ext cx="0" cy="0"/>
          <a:chOff x="0" y="0"/>
          <a:chExt cx="0" cy="0"/>
        </a:xfrm>
      </p:grpSpPr>
      <p:sp>
        <p:nvSpPr>
          <p:cNvPr id="68" name="Google Shape;68;p12"/>
          <p:cNvSpPr>
            <a:spLocks noGrp="1"/>
          </p:cNvSpPr>
          <p:nvPr>
            <p:ph type="pic" idx="2"/>
          </p:nvPr>
        </p:nvSpPr>
        <p:spPr>
          <a:xfrm>
            <a:off x="0" y="0"/>
            <a:ext cx="12192000" cy="6858000"/>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Video">
  <p:cSld name="1_Video">
    <p:bg>
      <p:bgPr>
        <a:solidFill>
          <a:schemeClr val="accent1"/>
        </a:solidFill>
        <a:effectLst/>
      </p:bgPr>
    </p:bg>
    <p:spTree>
      <p:nvGrpSpPr>
        <p:cNvPr id="1" name="Shape 69"/>
        <p:cNvGrpSpPr/>
        <p:nvPr/>
      </p:nvGrpSpPr>
      <p:grpSpPr>
        <a:xfrm>
          <a:off x="0" y="0"/>
          <a:ext cx="0" cy="0"/>
          <a:chOff x="0" y="0"/>
          <a:chExt cx="0" cy="0"/>
        </a:xfrm>
      </p:grpSpPr>
      <p:sp>
        <p:nvSpPr>
          <p:cNvPr id="70" name="Google Shape;70;p13"/>
          <p:cNvSpPr>
            <a:spLocks noGrp="1"/>
          </p:cNvSpPr>
          <p:nvPr>
            <p:ph type="media" idx="2"/>
          </p:nvPr>
        </p:nvSpPr>
        <p:spPr>
          <a:xfrm>
            <a:off x="140400" y="140400"/>
            <a:ext cx="11916000" cy="6580800"/>
          </a:xfrm>
          <a:prstGeom prst="rect">
            <a:avLst/>
          </a:prstGeom>
          <a:solidFill>
            <a:schemeClr val="lt1"/>
          </a:solidFill>
          <a:ln>
            <a:noFill/>
          </a:ln>
        </p:spPr>
        <p:txBody>
          <a:bodyPr spcFirstLastPara="1" wrap="square" lIns="0" tIns="0" rIns="0" bIns="0" anchor="t" anchorCtr="0">
            <a:noAutofit/>
          </a:bodyPr>
          <a:lstStyle>
            <a:lvl1pPr marR="0" lvl="0" algn="l" rtl="0">
              <a:lnSpc>
                <a:spcPct val="120000"/>
              </a:lnSpc>
              <a:spcBef>
                <a:spcPts val="0"/>
              </a:spcBef>
              <a:spcAft>
                <a:spcPts val="0"/>
              </a:spcAft>
              <a:buClr>
                <a:srgbClr val="203232"/>
              </a:buClr>
              <a:buSzPts val="2400"/>
              <a:buFont typeface="Arial"/>
              <a:buNone/>
              <a:defRPr sz="2400" b="1" i="0" u="none" strike="noStrike" cap="none">
                <a:solidFill>
                  <a:srgbClr val="203232"/>
                </a:solidFill>
                <a:latin typeface="Arial"/>
                <a:ea typeface="Arial"/>
                <a:cs typeface="Arial"/>
                <a:sym typeface="Arial"/>
              </a:defRPr>
            </a:lvl1pPr>
            <a:lvl2pPr marR="0" lvl="1" algn="l" rtl="0">
              <a:lnSpc>
                <a:spcPct val="120000"/>
              </a:lnSpc>
              <a:spcBef>
                <a:spcPts val="992"/>
              </a:spcBef>
              <a:spcAft>
                <a:spcPts val="0"/>
              </a:spcAft>
              <a:buClr>
                <a:srgbClr val="203232"/>
              </a:buClr>
              <a:buSzPts val="2400"/>
              <a:buFont typeface="Arial"/>
              <a:buNone/>
              <a:defRPr sz="2400" b="0" i="0" u="none" strike="noStrike" cap="none">
                <a:solidFill>
                  <a:srgbClr val="203232"/>
                </a:solidFill>
                <a:latin typeface="Arial"/>
                <a:ea typeface="Arial"/>
                <a:cs typeface="Arial"/>
                <a:sym typeface="Arial"/>
              </a:defRPr>
            </a:lvl2pPr>
            <a:lvl3pPr marR="0" lvl="2" algn="l" rtl="0">
              <a:lnSpc>
                <a:spcPct val="120000"/>
              </a:lnSpc>
              <a:spcBef>
                <a:spcPts val="992"/>
              </a:spcBef>
              <a:spcAft>
                <a:spcPts val="0"/>
              </a:spcAft>
              <a:buClr>
                <a:srgbClr val="203232"/>
              </a:buClr>
              <a:buSzPts val="2400"/>
              <a:buFont typeface="Arial"/>
              <a:buChar char="■"/>
              <a:defRPr sz="2400" b="0" i="0" u="none" strike="noStrike" cap="none">
                <a:solidFill>
                  <a:srgbClr val="203232"/>
                </a:solidFill>
                <a:latin typeface="Arial"/>
                <a:ea typeface="Arial"/>
                <a:cs typeface="Arial"/>
                <a:sym typeface="Arial"/>
              </a:defRPr>
            </a:lvl3pPr>
            <a:lvl4pPr marR="0" lvl="3" algn="l" rtl="0">
              <a:lnSpc>
                <a:spcPct val="120000"/>
              </a:lnSpc>
              <a:spcBef>
                <a:spcPts val="992"/>
              </a:spcBef>
              <a:spcAft>
                <a:spcPts val="0"/>
              </a:spcAft>
              <a:buClr>
                <a:srgbClr val="203232"/>
              </a:buClr>
              <a:buSzPts val="1800"/>
              <a:buFont typeface="Arial"/>
              <a:buNone/>
              <a:defRPr sz="1800" b="0" i="0" u="none" strike="noStrike" cap="none">
                <a:solidFill>
                  <a:srgbClr val="203232"/>
                </a:solidFill>
                <a:latin typeface="Arial"/>
                <a:ea typeface="Arial"/>
                <a:cs typeface="Arial"/>
                <a:sym typeface="Arial"/>
              </a:defRPr>
            </a:lvl4pPr>
            <a:lvl5pPr marR="0" lvl="4" algn="l" rtl="0">
              <a:lnSpc>
                <a:spcPct val="120000"/>
              </a:lnSpc>
              <a:spcBef>
                <a:spcPts val="0"/>
              </a:spcBef>
              <a:spcAft>
                <a:spcPts val="0"/>
              </a:spcAft>
              <a:buClr>
                <a:srgbClr val="203232"/>
              </a:buClr>
              <a:buSzPts val="1800"/>
              <a:buFont typeface="Arial"/>
              <a:buNone/>
              <a:defRPr sz="1800" b="1" i="0" u="none" strike="noStrike" cap="none">
                <a:solidFill>
                  <a:srgbClr val="203232"/>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Icons and text">
  <p:cSld name="Icons and text">
    <p:bg>
      <p:bgPr>
        <a:solidFill>
          <a:schemeClr val="lt1"/>
        </a:solidFill>
        <a:effectLst/>
      </p:bgPr>
    </p:bg>
    <p:spTree>
      <p:nvGrpSpPr>
        <p:cNvPr id="1" name="Shape 71"/>
        <p:cNvGrpSpPr/>
        <p:nvPr/>
      </p:nvGrpSpPr>
      <p:grpSpPr>
        <a:xfrm>
          <a:off x="0" y="0"/>
          <a:ext cx="0" cy="0"/>
          <a:chOff x="0" y="0"/>
          <a:chExt cx="0" cy="0"/>
        </a:xfrm>
      </p:grpSpPr>
      <p:sp>
        <p:nvSpPr>
          <p:cNvPr id="72" name="Google Shape;72;p14"/>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
        <p:nvSpPr>
          <p:cNvPr id="74" name="Google Shape;74;p14"/>
          <p:cNvSpPr/>
          <p:nvPr/>
        </p:nvSpPr>
        <p:spPr>
          <a:xfrm>
            <a:off x="0" y="0"/>
            <a:ext cx="12192000" cy="14040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5" name="Google Shape;75;p14"/>
          <p:cNvSpPr txBox="1">
            <a:spLocks noGrp="1"/>
          </p:cNvSpPr>
          <p:nvPr>
            <p:ph type="body" idx="1"/>
          </p:nvPr>
        </p:nvSpPr>
        <p:spPr>
          <a:xfrm>
            <a:off x="970139" y="4079342"/>
            <a:ext cx="3144661" cy="2252134"/>
          </a:xfrm>
          <a:prstGeom prst="rect">
            <a:avLst/>
          </a:prstGeom>
          <a:noFill/>
          <a:ln>
            <a:noFill/>
          </a:ln>
        </p:spPr>
        <p:txBody>
          <a:bodyPr spcFirstLastPara="1" wrap="square" lIns="0" tIns="0" rIns="0" bIns="0" anchor="t" anchorCtr="0">
            <a:noAutofit/>
          </a:bodyPr>
          <a:lstStyle>
            <a:lvl1pPr marL="457200" lvl="0" indent="-228600" algn="l">
              <a:lnSpc>
                <a:spcPct val="120000"/>
              </a:lnSpc>
              <a:spcBef>
                <a:spcPts val="0"/>
              </a:spcBef>
              <a:spcAft>
                <a:spcPts val="0"/>
              </a:spcAft>
              <a:buClr>
                <a:srgbClr val="203232"/>
              </a:buClr>
              <a:buSzPts val="2400"/>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14"/>
          <p:cNvSpPr txBox="1">
            <a:spLocks noGrp="1"/>
          </p:cNvSpPr>
          <p:nvPr>
            <p:ph type="body" idx="2"/>
          </p:nvPr>
        </p:nvSpPr>
        <p:spPr>
          <a:xfrm>
            <a:off x="8077200" y="4062209"/>
            <a:ext cx="3144661" cy="2252134"/>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4"/>
          <p:cNvSpPr txBox="1">
            <a:spLocks noGrp="1"/>
          </p:cNvSpPr>
          <p:nvPr>
            <p:ph type="body" idx="3"/>
          </p:nvPr>
        </p:nvSpPr>
        <p:spPr>
          <a:xfrm>
            <a:off x="4523669" y="4062209"/>
            <a:ext cx="3144661" cy="2252134"/>
          </a:xfrm>
          <a:prstGeom prst="rect">
            <a:avLst/>
          </a:prstGeom>
          <a:noFill/>
          <a:ln>
            <a:noFill/>
          </a:ln>
        </p:spPr>
        <p:txBody>
          <a:bodyPr spcFirstLastPara="1" wrap="square" lIns="0" tIns="0" rIns="0" bIns="0" anchor="t" anchorCtr="0">
            <a:noAutofit/>
          </a:bodyPr>
          <a:lstStyle>
            <a:lvl1pPr marL="457200" marR="0" lvl="0" indent="-228600" algn="l">
              <a:lnSpc>
                <a:spcPct val="120000"/>
              </a:lnSpc>
              <a:spcBef>
                <a:spcPts val="0"/>
              </a:spcBef>
              <a:spcAft>
                <a:spcPts val="0"/>
              </a:spcAft>
              <a:buClr>
                <a:srgbClr val="203232"/>
              </a:buClr>
              <a:buSzPts val="2400"/>
              <a:buFont typeface="Arial"/>
              <a:buNone/>
              <a:defRPr b="0">
                <a:solidFill>
                  <a:srgbClr val="203232"/>
                </a:solidFill>
              </a:defRPr>
            </a:lvl1pPr>
            <a:lvl2pPr marL="914400" lvl="1" indent="-228600" algn="l">
              <a:lnSpc>
                <a:spcPct val="120000"/>
              </a:lnSpc>
              <a:spcBef>
                <a:spcPts val="992"/>
              </a:spcBef>
              <a:spcAft>
                <a:spcPts val="0"/>
              </a:spcAft>
              <a:buClr>
                <a:srgbClr val="203232"/>
              </a:buClr>
              <a:buSzPts val="2400"/>
              <a:buNone/>
              <a:defRPr/>
            </a:lvl2pPr>
            <a:lvl3pPr marL="1371600" lvl="2" indent="-381000" algn="l">
              <a:lnSpc>
                <a:spcPct val="120000"/>
              </a:lnSpc>
              <a:spcBef>
                <a:spcPts val="992"/>
              </a:spcBef>
              <a:spcAft>
                <a:spcPts val="0"/>
              </a:spcAft>
              <a:buClr>
                <a:srgbClr val="203232"/>
              </a:buClr>
              <a:buSzPts val="2400"/>
              <a:buChar char="■"/>
              <a:defRPr/>
            </a:lvl3pPr>
            <a:lvl4pPr marL="1828800" lvl="3" indent="-228600" algn="l">
              <a:lnSpc>
                <a:spcPct val="120000"/>
              </a:lnSpc>
              <a:spcBef>
                <a:spcPts val="992"/>
              </a:spcBef>
              <a:spcAft>
                <a:spcPts val="0"/>
              </a:spcAft>
              <a:buClr>
                <a:srgbClr val="203232"/>
              </a:buClr>
              <a:buSzPts val="1800"/>
              <a:buNone/>
              <a:defRPr/>
            </a:lvl4pPr>
            <a:lvl5pPr marL="2286000" lvl="4" indent="-228600" algn="l">
              <a:lnSpc>
                <a:spcPct val="120000"/>
              </a:lnSpc>
              <a:spcBef>
                <a:spcPts val="0"/>
              </a:spcBef>
              <a:spcAft>
                <a:spcPts val="0"/>
              </a:spcAft>
              <a:buClr>
                <a:schemeClr val="accent4"/>
              </a:buClr>
              <a:buSzPts val="1800"/>
              <a:buNone/>
              <a:defRPr>
                <a:solidFill>
                  <a:schemeClr val="accent4"/>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14"/>
          <p:cNvSpPr>
            <a:spLocks noGrp="1"/>
          </p:cNvSpPr>
          <p:nvPr>
            <p:ph type="pic" idx="4"/>
          </p:nvPr>
        </p:nvSpPr>
        <p:spPr>
          <a:xfrm>
            <a:off x="1462175" y="1640942"/>
            <a:ext cx="2160587" cy="2160588"/>
          </a:xfrm>
          <a:prstGeom prst="rect">
            <a:avLst/>
          </a:prstGeom>
          <a:noFill/>
          <a:ln>
            <a:noFill/>
          </a:ln>
        </p:spPr>
      </p:sp>
      <p:sp>
        <p:nvSpPr>
          <p:cNvPr id="79" name="Google Shape;79;p14"/>
          <p:cNvSpPr>
            <a:spLocks noGrp="1"/>
          </p:cNvSpPr>
          <p:nvPr>
            <p:ph type="pic" idx="5"/>
          </p:nvPr>
        </p:nvSpPr>
        <p:spPr>
          <a:xfrm>
            <a:off x="5015705" y="1640942"/>
            <a:ext cx="2160587" cy="2160588"/>
          </a:xfrm>
          <a:prstGeom prst="rect">
            <a:avLst/>
          </a:prstGeom>
          <a:noFill/>
          <a:ln>
            <a:noFill/>
          </a:ln>
        </p:spPr>
      </p:sp>
      <p:sp>
        <p:nvSpPr>
          <p:cNvPr id="80" name="Google Shape;80;p14"/>
          <p:cNvSpPr>
            <a:spLocks noGrp="1"/>
          </p:cNvSpPr>
          <p:nvPr>
            <p:ph type="pic" idx="6"/>
          </p:nvPr>
        </p:nvSpPr>
        <p:spPr>
          <a:xfrm>
            <a:off x="8569236" y="1640942"/>
            <a:ext cx="2160587" cy="2160588"/>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d page">
  <p:cSld name="End page">
    <p:bg>
      <p:bgPr>
        <a:solidFill>
          <a:schemeClr val="accent1"/>
        </a:solidFill>
        <a:effectLst/>
      </p:bgPr>
    </p:bg>
    <p:spTree>
      <p:nvGrpSpPr>
        <p:cNvPr id="1" name="Shape 81"/>
        <p:cNvGrpSpPr/>
        <p:nvPr/>
      </p:nvGrpSpPr>
      <p:grpSpPr>
        <a:xfrm>
          <a:off x="0" y="0"/>
          <a:ext cx="0" cy="0"/>
          <a:chOff x="0" y="0"/>
          <a:chExt cx="0" cy="0"/>
        </a:xfrm>
      </p:grpSpPr>
      <p:pic>
        <p:nvPicPr>
          <p:cNvPr id="82" name="Google Shape;82;p15"/>
          <p:cNvPicPr preferRelativeResize="0"/>
          <p:nvPr/>
        </p:nvPicPr>
        <p:blipFill rotWithShape="1">
          <a:blip r:embed="rId2">
            <a:alphaModFix/>
          </a:blip>
          <a:srcRect/>
          <a:stretch/>
        </p:blipFill>
        <p:spPr>
          <a:xfrm>
            <a:off x="954002" y="5511600"/>
            <a:ext cx="2242795" cy="397958"/>
          </a:xfrm>
          <a:prstGeom prst="rect">
            <a:avLst/>
          </a:prstGeom>
          <a:noFill/>
          <a:ln>
            <a:noFill/>
          </a:ln>
        </p:spPr>
      </p:pic>
      <p:sp>
        <p:nvSpPr>
          <p:cNvPr id="83" name="Google Shape;83;p15"/>
          <p:cNvSpPr txBox="1">
            <a:spLocks noGrp="1"/>
          </p:cNvSpPr>
          <p:nvPr>
            <p:ph type="ctrTitle"/>
          </p:nvPr>
        </p:nvSpPr>
        <p:spPr>
          <a:xfrm>
            <a:off x="926844" y="1964352"/>
            <a:ext cx="11828559" cy="105157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7386"/>
              <a:buFont typeface="Arial"/>
              <a:buNone/>
              <a:defRPr sz="7386">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15"/>
          <p:cNvSpPr txBox="1">
            <a:spLocks noGrp="1"/>
          </p:cNvSpPr>
          <p:nvPr>
            <p:ph type="ftr" idx="11"/>
          </p:nvPr>
        </p:nvSpPr>
        <p:spPr>
          <a:xfrm>
            <a:off x="965289" y="779733"/>
            <a:ext cx="7176911" cy="230832"/>
          </a:xfrm>
          <a:prstGeom prst="rect">
            <a:avLst/>
          </a:prstGeom>
          <a:noFill/>
          <a:ln>
            <a:noFill/>
          </a:ln>
        </p:spPr>
        <p:txBody>
          <a:bodyPr spcFirstLastPara="1" wrap="square" lIns="0" tIns="0" rIns="0" bIns="0" anchor="t" anchorCtr="0">
            <a:noAutofit/>
          </a:bodyPr>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5"/>
          <p:cNvSpPr txBox="1">
            <a:spLocks noGrp="1"/>
          </p:cNvSpPr>
          <p:nvPr>
            <p:ph type="sldNum" idx="12"/>
          </p:nvPr>
        </p:nvSpPr>
        <p:spPr>
          <a:xfrm>
            <a:off x="10616400" y="779733"/>
            <a:ext cx="622800" cy="230832"/>
          </a:xfrm>
          <a:prstGeom prst="rect">
            <a:avLst/>
          </a:prstGeom>
          <a:noFill/>
          <a:ln>
            <a:noFill/>
          </a:ln>
        </p:spPr>
        <p:txBody>
          <a:bodyPr spcFirstLastPara="1" wrap="square" lIns="0" tIns="0" rIns="0" bIns="0" anchor="t" anchorCtr="0">
            <a:noAutofit/>
          </a:bodyPr>
          <a:lstStyle>
            <a:lvl1pPr marL="0" lvl="0" indent="0" algn="r">
              <a:spcBef>
                <a:spcPts val="0"/>
              </a:spcBef>
              <a:buNone/>
              <a:defRPr sz="1500" b="1">
                <a:solidFill>
                  <a:schemeClr val="lt1"/>
                </a:solidFill>
                <a:latin typeface="Arial"/>
                <a:ea typeface="Arial"/>
                <a:cs typeface="Arial"/>
                <a:sym typeface="Arial"/>
              </a:defRPr>
            </a:lvl1pPr>
            <a:lvl2pPr marL="0" lvl="1" indent="0" algn="r">
              <a:spcBef>
                <a:spcPts val="0"/>
              </a:spcBef>
              <a:buNone/>
              <a:defRPr sz="1500" b="1">
                <a:solidFill>
                  <a:schemeClr val="lt1"/>
                </a:solidFill>
                <a:latin typeface="Arial"/>
                <a:ea typeface="Arial"/>
                <a:cs typeface="Arial"/>
                <a:sym typeface="Arial"/>
              </a:defRPr>
            </a:lvl2pPr>
            <a:lvl3pPr marL="0" lvl="2" indent="0" algn="r">
              <a:spcBef>
                <a:spcPts val="0"/>
              </a:spcBef>
              <a:buNone/>
              <a:defRPr sz="1500" b="1">
                <a:solidFill>
                  <a:schemeClr val="lt1"/>
                </a:solidFill>
                <a:latin typeface="Arial"/>
                <a:ea typeface="Arial"/>
                <a:cs typeface="Arial"/>
                <a:sym typeface="Arial"/>
              </a:defRPr>
            </a:lvl3pPr>
            <a:lvl4pPr marL="0" lvl="3" indent="0" algn="r">
              <a:spcBef>
                <a:spcPts val="0"/>
              </a:spcBef>
              <a:buNone/>
              <a:defRPr sz="1500" b="1">
                <a:solidFill>
                  <a:schemeClr val="lt1"/>
                </a:solidFill>
                <a:latin typeface="Arial"/>
                <a:ea typeface="Arial"/>
                <a:cs typeface="Arial"/>
                <a:sym typeface="Arial"/>
              </a:defRPr>
            </a:lvl4pPr>
            <a:lvl5pPr marL="0" lvl="4" indent="0" algn="r">
              <a:spcBef>
                <a:spcPts val="0"/>
              </a:spcBef>
              <a:buNone/>
              <a:defRPr sz="1500" b="1">
                <a:solidFill>
                  <a:schemeClr val="lt1"/>
                </a:solidFill>
                <a:latin typeface="Arial"/>
                <a:ea typeface="Arial"/>
                <a:cs typeface="Arial"/>
                <a:sym typeface="Arial"/>
              </a:defRPr>
            </a:lvl5pPr>
            <a:lvl6pPr marL="0" lvl="5" indent="0" algn="r">
              <a:spcBef>
                <a:spcPts val="0"/>
              </a:spcBef>
              <a:buNone/>
              <a:defRPr sz="1500" b="1">
                <a:solidFill>
                  <a:schemeClr val="lt1"/>
                </a:solidFill>
                <a:latin typeface="Arial"/>
                <a:ea typeface="Arial"/>
                <a:cs typeface="Arial"/>
                <a:sym typeface="Arial"/>
              </a:defRPr>
            </a:lvl6pPr>
            <a:lvl7pPr marL="0" lvl="6" indent="0" algn="r">
              <a:spcBef>
                <a:spcPts val="0"/>
              </a:spcBef>
              <a:buNone/>
              <a:defRPr sz="1500" b="1">
                <a:solidFill>
                  <a:schemeClr val="lt1"/>
                </a:solidFill>
                <a:latin typeface="Arial"/>
                <a:ea typeface="Arial"/>
                <a:cs typeface="Arial"/>
                <a:sym typeface="Arial"/>
              </a:defRPr>
            </a:lvl7pPr>
            <a:lvl8pPr marL="0" lvl="7" indent="0" algn="r">
              <a:spcBef>
                <a:spcPts val="0"/>
              </a:spcBef>
              <a:buNone/>
              <a:defRPr sz="1500" b="1">
                <a:solidFill>
                  <a:schemeClr val="lt1"/>
                </a:solidFill>
                <a:latin typeface="Arial"/>
                <a:ea typeface="Arial"/>
                <a:cs typeface="Arial"/>
                <a:sym typeface="Arial"/>
              </a:defRPr>
            </a:lvl8pPr>
            <a:lvl9pPr marL="0" lvl="8" indent="0" algn="r">
              <a:spcBef>
                <a:spcPts val="0"/>
              </a:spcBef>
              <a:buNone/>
              <a:defRPr sz="1500" b="1">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954000" y="1890000"/>
            <a:ext cx="10279150" cy="365125"/>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rgbClr val="203232"/>
              </a:buClr>
              <a:buSzPts val="3600"/>
              <a:buFont typeface="Arial"/>
              <a:buNone/>
              <a:defRPr sz="3600" b="1" i="0" u="none" strike="noStrike" cap="none">
                <a:solidFill>
                  <a:srgbClr val="20323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970139" y="2717600"/>
            <a:ext cx="10279150" cy="317520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rgbClr val="203232"/>
              </a:buClr>
              <a:buSzPts val="2400"/>
              <a:buFont typeface="Arial"/>
              <a:buNone/>
              <a:defRPr sz="2400" b="1" i="0" u="none" strike="noStrike" cap="none">
                <a:solidFill>
                  <a:srgbClr val="203232"/>
                </a:solidFill>
                <a:latin typeface="Arial"/>
                <a:ea typeface="Arial"/>
                <a:cs typeface="Arial"/>
                <a:sym typeface="Arial"/>
              </a:defRPr>
            </a:lvl1pPr>
            <a:lvl2pPr marL="914400" marR="0" lvl="1" indent="-228600" algn="l" rtl="0">
              <a:lnSpc>
                <a:spcPct val="120000"/>
              </a:lnSpc>
              <a:spcBef>
                <a:spcPts val="992"/>
              </a:spcBef>
              <a:spcAft>
                <a:spcPts val="0"/>
              </a:spcAft>
              <a:buClr>
                <a:srgbClr val="203232"/>
              </a:buClr>
              <a:buSzPts val="2400"/>
              <a:buFont typeface="Arial"/>
              <a:buNone/>
              <a:defRPr sz="2400" b="0" i="0" u="none" strike="noStrike" cap="none">
                <a:solidFill>
                  <a:srgbClr val="203232"/>
                </a:solidFill>
                <a:latin typeface="Arial"/>
                <a:ea typeface="Arial"/>
                <a:cs typeface="Arial"/>
                <a:sym typeface="Arial"/>
              </a:defRPr>
            </a:lvl2pPr>
            <a:lvl3pPr marL="1371600" marR="0" lvl="2" indent="-381000" algn="l" rtl="0">
              <a:lnSpc>
                <a:spcPct val="120000"/>
              </a:lnSpc>
              <a:spcBef>
                <a:spcPts val="992"/>
              </a:spcBef>
              <a:spcAft>
                <a:spcPts val="0"/>
              </a:spcAft>
              <a:buClr>
                <a:srgbClr val="203232"/>
              </a:buClr>
              <a:buSzPts val="2400"/>
              <a:buFont typeface="Arial"/>
              <a:buChar char="■"/>
              <a:defRPr sz="2400" b="0" i="0" u="none" strike="noStrike" cap="none">
                <a:solidFill>
                  <a:srgbClr val="203232"/>
                </a:solidFill>
                <a:latin typeface="Arial"/>
                <a:ea typeface="Arial"/>
                <a:cs typeface="Arial"/>
                <a:sym typeface="Arial"/>
              </a:defRPr>
            </a:lvl3pPr>
            <a:lvl4pPr marL="1828800" marR="0" lvl="3" indent="-228600" algn="l" rtl="0">
              <a:lnSpc>
                <a:spcPct val="120000"/>
              </a:lnSpc>
              <a:spcBef>
                <a:spcPts val="992"/>
              </a:spcBef>
              <a:spcAft>
                <a:spcPts val="0"/>
              </a:spcAft>
              <a:buClr>
                <a:srgbClr val="203232"/>
              </a:buClr>
              <a:buSzPts val="1800"/>
              <a:buFont typeface="Arial"/>
              <a:buNone/>
              <a:defRPr sz="1800" b="0" i="0" u="none" strike="noStrike" cap="none">
                <a:solidFill>
                  <a:srgbClr val="203232"/>
                </a:solidFill>
                <a:latin typeface="Arial"/>
                <a:ea typeface="Arial"/>
                <a:cs typeface="Arial"/>
                <a:sym typeface="Arial"/>
              </a:defRPr>
            </a:lvl4pPr>
            <a:lvl5pPr marL="2286000" marR="0" lvl="4" indent="-228600" algn="l" rtl="0">
              <a:lnSpc>
                <a:spcPct val="120000"/>
              </a:lnSpc>
              <a:spcBef>
                <a:spcPts val="0"/>
              </a:spcBef>
              <a:spcAft>
                <a:spcPts val="0"/>
              </a:spcAft>
              <a:buClr>
                <a:srgbClr val="203232"/>
              </a:buClr>
              <a:buSzPts val="1800"/>
              <a:buFont typeface="Arial"/>
              <a:buNone/>
              <a:defRPr sz="1800" b="1" i="0" u="none" strike="noStrike" cap="none">
                <a:solidFill>
                  <a:srgbClr val="20323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ftr" idx="11"/>
          </p:nvPr>
        </p:nvSpPr>
        <p:spPr>
          <a:xfrm>
            <a:off x="970139" y="775255"/>
            <a:ext cx="7176911" cy="230832"/>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500" b="0" i="0" u="none" strike="noStrike" cap="none">
                <a:solidFill>
                  <a:srgbClr val="8A8D8D"/>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sldNum" idx="12"/>
          </p:nvPr>
        </p:nvSpPr>
        <p:spPr>
          <a:xfrm>
            <a:off x="9821333" y="783355"/>
            <a:ext cx="1400528" cy="230832"/>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500" b="1" i="0" u="none" strike="noStrike" cap="none">
                <a:solidFill>
                  <a:srgbClr val="8A8D8D"/>
                </a:solidFill>
                <a:latin typeface="Arial"/>
                <a:ea typeface="Arial"/>
                <a:cs typeface="Arial"/>
                <a:sym typeface="Arial"/>
              </a:defRPr>
            </a:lvl1pPr>
            <a:lvl2pPr marL="0" marR="0" lvl="1" indent="0" algn="r" rtl="0">
              <a:spcBef>
                <a:spcPts val="0"/>
              </a:spcBef>
              <a:buNone/>
              <a:defRPr sz="1500" b="1" i="0" u="none" strike="noStrike" cap="none">
                <a:solidFill>
                  <a:srgbClr val="8A8D8D"/>
                </a:solidFill>
                <a:latin typeface="Arial"/>
                <a:ea typeface="Arial"/>
                <a:cs typeface="Arial"/>
                <a:sym typeface="Arial"/>
              </a:defRPr>
            </a:lvl2pPr>
            <a:lvl3pPr marL="0" marR="0" lvl="2" indent="0" algn="r" rtl="0">
              <a:spcBef>
                <a:spcPts val="0"/>
              </a:spcBef>
              <a:buNone/>
              <a:defRPr sz="1500" b="1" i="0" u="none" strike="noStrike" cap="none">
                <a:solidFill>
                  <a:srgbClr val="8A8D8D"/>
                </a:solidFill>
                <a:latin typeface="Arial"/>
                <a:ea typeface="Arial"/>
                <a:cs typeface="Arial"/>
                <a:sym typeface="Arial"/>
              </a:defRPr>
            </a:lvl3pPr>
            <a:lvl4pPr marL="0" marR="0" lvl="3" indent="0" algn="r" rtl="0">
              <a:spcBef>
                <a:spcPts val="0"/>
              </a:spcBef>
              <a:buNone/>
              <a:defRPr sz="1500" b="1" i="0" u="none" strike="noStrike" cap="none">
                <a:solidFill>
                  <a:srgbClr val="8A8D8D"/>
                </a:solidFill>
                <a:latin typeface="Arial"/>
                <a:ea typeface="Arial"/>
                <a:cs typeface="Arial"/>
                <a:sym typeface="Arial"/>
              </a:defRPr>
            </a:lvl4pPr>
            <a:lvl5pPr marL="0" marR="0" lvl="4" indent="0" algn="r" rtl="0">
              <a:spcBef>
                <a:spcPts val="0"/>
              </a:spcBef>
              <a:buNone/>
              <a:defRPr sz="1500" b="1" i="0" u="none" strike="noStrike" cap="none">
                <a:solidFill>
                  <a:srgbClr val="8A8D8D"/>
                </a:solidFill>
                <a:latin typeface="Arial"/>
                <a:ea typeface="Arial"/>
                <a:cs typeface="Arial"/>
                <a:sym typeface="Arial"/>
              </a:defRPr>
            </a:lvl5pPr>
            <a:lvl6pPr marL="0" marR="0" lvl="5" indent="0" algn="r" rtl="0">
              <a:spcBef>
                <a:spcPts val="0"/>
              </a:spcBef>
              <a:buNone/>
              <a:defRPr sz="1500" b="1" i="0" u="none" strike="noStrike" cap="none">
                <a:solidFill>
                  <a:srgbClr val="8A8D8D"/>
                </a:solidFill>
                <a:latin typeface="Arial"/>
                <a:ea typeface="Arial"/>
                <a:cs typeface="Arial"/>
                <a:sym typeface="Arial"/>
              </a:defRPr>
            </a:lvl6pPr>
            <a:lvl7pPr marL="0" marR="0" lvl="6" indent="0" algn="r" rtl="0">
              <a:spcBef>
                <a:spcPts val="0"/>
              </a:spcBef>
              <a:buNone/>
              <a:defRPr sz="1500" b="1" i="0" u="none" strike="noStrike" cap="none">
                <a:solidFill>
                  <a:srgbClr val="8A8D8D"/>
                </a:solidFill>
                <a:latin typeface="Arial"/>
                <a:ea typeface="Arial"/>
                <a:cs typeface="Arial"/>
                <a:sym typeface="Arial"/>
              </a:defRPr>
            </a:lvl7pPr>
            <a:lvl8pPr marL="0" marR="0" lvl="7" indent="0" algn="r" rtl="0">
              <a:spcBef>
                <a:spcPts val="0"/>
              </a:spcBef>
              <a:buNone/>
              <a:defRPr sz="1500" b="1" i="0" u="none" strike="noStrike" cap="none">
                <a:solidFill>
                  <a:srgbClr val="8A8D8D"/>
                </a:solidFill>
                <a:latin typeface="Arial"/>
                <a:ea typeface="Arial"/>
                <a:cs typeface="Arial"/>
                <a:sym typeface="Arial"/>
              </a:defRPr>
            </a:lvl8pPr>
            <a:lvl9pPr marL="0" marR="0" lvl="8" indent="0" algn="r" rtl="0">
              <a:spcBef>
                <a:spcPts val="0"/>
              </a:spcBef>
              <a:buNone/>
              <a:defRPr sz="1500" b="1" i="0" u="none" strike="noStrike" cap="none">
                <a:solidFill>
                  <a:srgbClr val="8A8D8D"/>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p15:clr>
            <a:srgbClr val="F26B43"/>
          </p15:clr>
        </p15:guide>
        <p15:guide id="2" pos="604">
          <p15:clr>
            <a:srgbClr val="F26B43"/>
          </p15:clr>
        </p15:guide>
        <p15:guide id="3" pos="7076">
          <p15:clr>
            <a:srgbClr val="F26B43"/>
          </p15:clr>
        </p15:guide>
        <p15:guide id="4" orient="horz" pos="2160">
          <p15:clr>
            <a:srgbClr val="F26B43"/>
          </p15:clr>
        </p15:guide>
        <p15:guide id="5" orient="horz">
          <p15:clr>
            <a:srgbClr val="F26B43"/>
          </p15:clr>
        </p15:guide>
        <p15:guide id="6" orient="horz" pos="604">
          <p15:clr>
            <a:srgbClr val="F26B43"/>
          </p15:clr>
        </p15:guide>
        <p15:guide id="7" orient="horz" pos="3712">
          <p15:clr>
            <a:srgbClr val="F26B43"/>
          </p15:clr>
        </p15:guide>
        <p15:guide id="8" orient="horz" pos="118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9"/>
        <p:cNvGrpSpPr/>
        <p:nvPr/>
      </p:nvGrpSpPr>
      <p:grpSpPr>
        <a:xfrm>
          <a:off x="0" y="0"/>
          <a:ext cx="0" cy="0"/>
          <a:chOff x="0" y="0"/>
          <a:chExt cx="0" cy="0"/>
        </a:xfrm>
      </p:grpSpPr>
      <p:sp>
        <p:nvSpPr>
          <p:cNvPr id="90" name="Google Shape;90;p16"/>
          <p:cNvSpPr txBox="1">
            <a:spLocks noGrp="1"/>
          </p:cNvSpPr>
          <p:nvPr>
            <p:ph type="ctrTitle"/>
          </p:nvPr>
        </p:nvSpPr>
        <p:spPr>
          <a:xfrm>
            <a:off x="953999" y="2467656"/>
            <a:ext cx="10031157" cy="2160000"/>
          </a:xfrm>
          <a:prstGeom prst="rect">
            <a:avLst/>
          </a:prstGeom>
          <a:noFill/>
          <a:ln>
            <a:noFill/>
          </a:ln>
        </p:spPr>
        <p:txBody>
          <a:bodyPr spcFirstLastPara="1" wrap="square" lIns="0" tIns="0" rIns="0" bIns="0" anchor="t" anchorCtr="0">
            <a:normAutofit fontScale="90000"/>
          </a:bodyPr>
          <a:lstStyle/>
          <a:p>
            <a:pPr marL="0" lvl="0" indent="0" algn="l" rtl="0">
              <a:lnSpc>
                <a:spcPct val="100000"/>
              </a:lnSpc>
              <a:spcBef>
                <a:spcPts val="0"/>
              </a:spcBef>
              <a:spcAft>
                <a:spcPts val="0"/>
              </a:spcAft>
              <a:buClr>
                <a:schemeClr val="lt1"/>
              </a:buClr>
              <a:buSzPct val="100000"/>
              <a:buFont typeface="Arial"/>
              <a:buNone/>
            </a:pPr>
            <a:r>
              <a:rPr lang="en-GB" dirty="0"/>
              <a:t>Visualization and Analysis – </a:t>
            </a:r>
            <a:br>
              <a:rPr lang="en-GB" dirty="0"/>
            </a:br>
            <a:r>
              <a:rPr lang="en-GB" sz="4000" dirty="0"/>
              <a:t>Tutorial Presentation for Feedback</a:t>
            </a:r>
            <a:br>
              <a:rPr lang="en-GB" sz="4000" dirty="0"/>
            </a:br>
            <a:r>
              <a:rPr lang="en-GB" sz="2200" dirty="0"/>
              <a:t>Date: 08-12-2025</a:t>
            </a:r>
            <a:br>
              <a:rPr lang="en-GB" sz="8000" dirty="0"/>
            </a:br>
            <a:endParaRPr/>
          </a:p>
        </p:txBody>
      </p:sp>
      <p:sp>
        <p:nvSpPr>
          <p:cNvPr id="92" name="Google Shape;92;p16"/>
          <p:cNvSpPr txBox="1">
            <a:spLocks noGrp="1"/>
          </p:cNvSpPr>
          <p:nvPr>
            <p:ph type="ftr" idx="11"/>
          </p:nvPr>
        </p:nvSpPr>
        <p:spPr>
          <a:xfrm>
            <a:off x="965289" y="274320"/>
            <a:ext cx="10455567" cy="736245"/>
          </a:xfrm>
          <a:prstGeom prst="rect">
            <a:avLst/>
          </a:prstGeom>
          <a:noFill/>
          <a:ln>
            <a:noFill/>
          </a:ln>
        </p:spPr>
        <p:txBody>
          <a:bodyPr spcFirstLastPara="1" wrap="square" lIns="0" tIns="0" rIns="0" bIns="0" anchor="t" anchorCtr="0">
            <a:noAutofit/>
          </a:bodyPr>
          <a:lstStyle/>
          <a:p>
            <a:r>
              <a:rPr lang="en-GB" dirty="0"/>
              <a:t>7COM1079-2025  Student Group No: A 104   Names of Student Attendees  (all group should attend to get feedback): </a:t>
            </a:r>
            <a:endParaRPr dirty="0"/>
          </a:p>
        </p:txBody>
      </p:sp>
      <p:sp>
        <p:nvSpPr>
          <p:cNvPr id="93" name="Google Shape;93;p16"/>
          <p:cNvSpPr txBox="1">
            <a:spLocks noGrp="1"/>
          </p:cNvSpPr>
          <p:nvPr>
            <p:ph type="sldNum" idx="12"/>
          </p:nvPr>
        </p:nvSpPr>
        <p:spPr>
          <a:xfrm>
            <a:off x="10616400" y="779733"/>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1</a:t>
            </a:fld>
            <a:endParaRPr/>
          </a:p>
        </p:txBody>
      </p:sp>
      <p:sp>
        <p:nvSpPr>
          <p:cNvPr id="5" name="Subtitle 2">
            <a:extLst>
              <a:ext uri="{FF2B5EF4-FFF2-40B4-BE49-F238E27FC236}">
                <a16:creationId xmlns:a16="http://schemas.microsoft.com/office/drawing/2014/main" id="{8275DA97-5166-7F4B-BC83-F50AC8BEDCD7}"/>
              </a:ext>
            </a:extLst>
          </p:cNvPr>
          <p:cNvSpPr>
            <a:spLocks noGrp="1"/>
          </p:cNvSpPr>
          <p:nvPr/>
        </p:nvSpPr>
        <p:spPr>
          <a:xfrm>
            <a:off x="953999" y="2002060"/>
            <a:ext cx="10176833" cy="371205"/>
          </a:xfrm>
          <a:prstGeom prst="rect">
            <a:avLst/>
          </a:prstGeom>
        </p:spPr>
        <p:txBody>
          <a:bodyPr vert="horz" lIns="0" tIns="0" rIns="0" bIns="0" rtlCol="0" anchor="t">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bg1"/>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t>Group Name: A 104                                                            Name of Student Presenting: Faraaz Malik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7"/>
          <p:cNvSpPr txBox="1">
            <a:spLocks noGrp="1"/>
          </p:cNvSpPr>
          <p:nvPr>
            <p:ph type="subTitle" idx="1"/>
          </p:nvPr>
        </p:nvSpPr>
        <p:spPr>
          <a:xfrm>
            <a:off x="965288" y="1080637"/>
            <a:ext cx="10110240" cy="588024"/>
          </a:xfrm>
          <a:prstGeom prst="rect">
            <a:avLst/>
          </a:prstGeom>
          <a:noFill/>
          <a:ln>
            <a:noFill/>
          </a:ln>
        </p:spPr>
        <p:txBody>
          <a:bodyPr spcFirstLastPara="1" wrap="square" lIns="0" tIns="0" rIns="0" bIns="0" anchor="t" anchorCtr="0">
            <a:noAutofit/>
          </a:bodyPr>
          <a:lstStyle/>
          <a:p>
            <a:pPr marL="0" indent="0">
              <a:lnSpc>
                <a:spcPct val="120000"/>
              </a:lnSpc>
              <a:buSzPts val="2400"/>
            </a:pPr>
            <a:r>
              <a:rPr lang="en-GB" sz="2200" dirty="0">
                <a:latin typeface="22"/>
                <a:ea typeface="Calibri"/>
                <a:cs typeface="Calibri"/>
                <a:sym typeface="Calibri"/>
              </a:rPr>
              <a:t>We are using the dataset</a:t>
            </a:r>
            <a:r>
              <a:rPr lang="en-GB" sz="2200" dirty="0">
                <a:solidFill>
                  <a:srgbClr val="FF0000"/>
                </a:solidFill>
                <a:latin typeface="22"/>
                <a:ea typeface="Calibri"/>
                <a:cs typeface="Calibri"/>
                <a:sym typeface="Calibri"/>
              </a:rPr>
              <a:t> </a:t>
            </a:r>
            <a:r>
              <a:rPr lang="en-GB" sz="2200" dirty="0">
                <a:solidFill>
                  <a:srgbClr val="FF0000"/>
                </a:solidFill>
                <a:latin typeface="22"/>
              </a:rPr>
              <a:t>DS355 - Sleep_health_and_lifestyle_dataset.csv</a:t>
            </a:r>
            <a:r>
              <a:rPr lang="en-GB" sz="2200" dirty="0">
                <a:solidFill>
                  <a:srgbClr val="FF0000"/>
                </a:solidFill>
                <a:latin typeface="22"/>
                <a:ea typeface="Calibri"/>
                <a:cs typeface="Calibri"/>
                <a:sym typeface="Calibri"/>
              </a:rPr>
              <a:t> </a:t>
            </a:r>
            <a:r>
              <a:rPr lang="en-GB" sz="2200" dirty="0">
                <a:solidFill>
                  <a:schemeClr val="dk1"/>
                </a:solidFill>
                <a:latin typeface="22"/>
                <a:ea typeface="Calibri"/>
                <a:cs typeface="Calibri"/>
                <a:sym typeface="Calibri"/>
              </a:rPr>
              <a:t> to answer our Research Question  </a:t>
            </a:r>
            <a:r>
              <a:rPr lang="en-GB" sz="2200" dirty="0">
                <a:solidFill>
                  <a:srgbClr val="FF0000"/>
                </a:solidFill>
                <a:latin typeface="22"/>
                <a:ea typeface="Calibri"/>
                <a:cs typeface="Calibri"/>
                <a:sym typeface="Calibri"/>
              </a:rPr>
              <a:t>“Is there a difference in the median stress level between doctors and software engineers in the 27 to 59 age group?” </a:t>
            </a:r>
            <a:r>
              <a:rPr lang="en-GB" sz="2200" baseline="30000" dirty="0">
                <a:solidFill>
                  <a:schemeClr val="dk1"/>
                </a:solidFill>
                <a:latin typeface="22"/>
                <a:ea typeface="Calibri"/>
                <a:cs typeface="Calibri"/>
                <a:sym typeface="Calibri"/>
              </a:rPr>
              <a:t>1</a:t>
            </a:r>
            <a:endParaRPr lang="en-US" sz="2200">
              <a:solidFill>
                <a:schemeClr val="dk1"/>
              </a:solidFill>
              <a:latin typeface="22"/>
            </a:endParaRPr>
          </a:p>
          <a:p>
            <a:pPr marL="0" lvl="0" indent="0" algn="l" rtl="0">
              <a:lnSpc>
                <a:spcPct val="120000"/>
              </a:lnSpc>
              <a:spcBef>
                <a:spcPts val="992"/>
              </a:spcBef>
              <a:spcAft>
                <a:spcPts val="0"/>
              </a:spcAft>
              <a:buClr>
                <a:srgbClr val="FF0000"/>
              </a:buClr>
              <a:buSzPts val="2400"/>
              <a:buNone/>
            </a:pPr>
            <a:br>
              <a:rPr lang="en-GB" sz="2400" b="0" dirty="0">
                <a:solidFill>
                  <a:srgbClr val="FF0000"/>
                </a:solidFill>
                <a:latin typeface="Calibri"/>
                <a:ea typeface="Calibri"/>
                <a:cs typeface="Calibri"/>
                <a:sym typeface="Calibri"/>
              </a:rPr>
            </a:br>
            <a:endParaRPr sz="2400" dirty="0">
              <a:solidFill>
                <a:schemeClr val="dk1"/>
              </a:solidFill>
              <a:latin typeface="Calibri"/>
              <a:ea typeface="Calibri"/>
              <a:cs typeface="Calibri"/>
              <a:sym typeface="Calibri"/>
            </a:endParaRPr>
          </a:p>
        </p:txBody>
      </p:sp>
      <p:sp>
        <p:nvSpPr>
          <p:cNvPr id="100" name="Google Shape;100;p17"/>
          <p:cNvSpPr txBox="1">
            <a:spLocks noGrp="1"/>
          </p:cNvSpPr>
          <p:nvPr>
            <p:ph type="ftr" idx="11"/>
          </p:nvPr>
        </p:nvSpPr>
        <p:spPr>
          <a:xfrm>
            <a:off x="755462" y="548066"/>
            <a:ext cx="10104598" cy="242037"/>
          </a:xfrm>
          <a:prstGeom prst="rect">
            <a:avLst/>
          </a:prstGeom>
          <a:noFill/>
          <a:ln>
            <a:noFill/>
          </a:ln>
        </p:spPr>
        <p:txBody>
          <a:bodyPr spcFirstLastPara="1" wrap="square" lIns="0" tIns="0" rIns="0" bIns="0" anchor="t" anchorCtr="0">
            <a:noAutofit/>
          </a:bodyPr>
          <a:lstStyle/>
          <a:p>
            <a:r>
              <a:rPr lang="en-GB" dirty="0"/>
              <a:t>7COM1079-2025  Student Group No:    A 104    Names of Student Group Attendees: All group members</a:t>
            </a:r>
            <a:endParaRPr dirty="0"/>
          </a:p>
        </p:txBody>
      </p:sp>
      <p:sp>
        <p:nvSpPr>
          <p:cNvPr id="101" name="Google Shape;101;p17"/>
          <p:cNvSpPr txBox="1">
            <a:spLocks noGrp="1"/>
          </p:cNvSpPr>
          <p:nvPr>
            <p:ph type="sldNum" idx="12"/>
          </p:nvPr>
        </p:nvSpPr>
        <p:spPr>
          <a:xfrm>
            <a:off x="10616400" y="791022"/>
            <a:ext cx="622800" cy="230832"/>
          </a:xfrm>
          <a:prstGeom prst="rect">
            <a:avLst/>
          </a:prstGeom>
          <a:noFill/>
          <a:ln>
            <a:noFill/>
          </a:ln>
        </p:spPr>
        <p:txBody>
          <a:bodyPr spcFirstLastPara="1" wrap="square" lIns="0" tIns="0" rIns="0" bIns="0" anchor="t" anchorCtr="0">
            <a:noAutofit/>
          </a:body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2</a:t>
            </a:fld>
            <a:endParaRPr/>
          </a:p>
        </p:txBody>
      </p:sp>
      <p:sp>
        <p:nvSpPr>
          <p:cNvPr id="102" name="Google Shape;102;p17"/>
          <p:cNvSpPr txBox="1"/>
          <p:nvPr/>
        </p:nvSpPr>
        <p:spPr>
          <a:xfrm>
            <a:off x="501041" y="5085731"/>
            <a:ext cx="11690959" cy="1477328"/>
          </a:xfrm>
          <a:prstGeom prst="rect">
            <a:avLst/>
          </a:prstGeom>
          <a:solidFill>
            <a:srgbClr val="FFFF00"/>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aseline="30000">
                <a:solidFill>
                  <a:srgbClr val="FF0000"/>
                </a:solidFill>
                <a:latin typeface="Calibri"/>
                <a:ea typeface="Calibri"/>
                <a:cs typeface="Calibri"/>
                <a:sym typeface="Calibri"/>
              </a:rPr>
              <a:t>1 </a:t>
            </a:r>
            <a:r>
              <a:rPr lang="en-GB" sz="1800" b="0">
                <a:solidFill>
                  <a:srgbClr val="FF0000"/>
                </a:solidFill>
                <a:latin typeface="Calibri"/>
                <a:ea typeface="Calibri"/>
                <a:cs typeface="Calibri"/>
                <a:sym typeface="Calibri"/>
              </a:rPr>
              <a:t>Be sure you follow one of the three prescribed RQ Templates – identifying the type of statistical analysis you will be using.  If you do not have the correct RQ, we will stop your presentation here.</a:t>
            </a:r>
            <a:endParaRPr/>
          </a:p>
          <a:p>
            <a:pPr marL="0" marR="0" lvl="0" indent="0" algn="l" rtl="0">
              <a:spcBef>
                <a:spcPts val="0"/>
              </a:spcBef>
              <a:spcAft>
                <a:spcPts val="0"/>
              </a:spcAft>
              <a:buNone/>
            </a:pPr>
            <a:r>
              <a:rPr lang="en-GB" sz="1800" baseline="30000">
                <a:solidFill>
                  <a:srgbClr val="FF0000"/>
                </a:solidFill>
                <a:latin typeface="Calibri"/>
                <a:ea typeface="Calibri"/>
                <a:cs typeface="Calibri"/>
                <a:sym typeface="Calibri"/>
              </a:rPr>
              <a:t>2 </a:t>
            </a:r>
            <a:r>
              <a:rPr lang="en-GB" sz="1800">
                <a:solidFill>
                  <a:srgbClr val="FF0000"/>
                </a:solidFill>
                <a:latin typeface="Calibri"/>
                <a:ea typeface="Calibri"/>
                <a:cs typeface="Calibri"/>
                <a:sym typeface="Calibri"/>
              </a:rPr>
              <a:t>The variable name in your RQ may be different from the column name in cases where the column names are abbreviations.  </a:t>
            </a:r>
            <a:endParaRPr sz="1800" b="0">
              <a:solidFill>
                <a:srgbClr val="FF0000"/>
              </a:solidFill>
              <a:latin typeface="Calibri"/>
              <a:ea typeface="Calibri"/>
              <a:cs typeface="Calibri"/>
              <a:sym typeface="Calibri"/>
            </a:endParaRPr>
          </a:p>
          <a:p>
            <a:pPr marL="0" marR="0" lvl="0" indent="0" algn="l" rtl="0">
              <a:spcBef>
                <a:spcPts val="0"/>
              </a:spcBef>
              <a:spcAft>
                <a:spcPts val="0"/>
              </a:spcAft>
              <a:buNone/>
            </a:pPr>
            <a:r>
              <a:rPr lang="en-GB" sz="1800" baseline="30000">
                <a:solidFill>
                  <a:srgbClr val="FF0000"/>
                </a:solidFill>
                <a:latin typeface="Calibri"/>
                <a:ea typeface="Calibri"/>
                <a:cs typeface="Calibri"/>
                <a:sym typeface="Calibri"/>
              </a:rPr>
              <a:t>3.4.</a:t>
            </a:r>
            <a:r>
              <a:rPr lang="en-GB" sz="1800">
                <a:solidFill>
                  <a:srgbClr val="FF0000"/>
                </a:solidFill>
                <a:latin typeface="Calibri"/>
                <a:ea typeface="Calibri"/>
                <a:cs typeface="Calibri"/>
                <a:sym typeface="Calibri"/>
              </a:rPr>
              <a:t>Be sure to identify which variable is your </a:t>
            </a:r>
            <a:r>
              <a:rPr lang="en-GB" sz="1800" b="1">
                <a:solidFill>
                  <a:srgbClr val="FF0000"/>
                </a:solidFill>
                <a:latin typeface="Calibri"/>
                <a:ea typeface="Calibri"/>
                <a:cs typeface="Calibri"/>
                <a:sym typeface="Calibri"/>
              </a:rPr>
              <a:t>dependent variable </a:t>
            </a:r>
            <a:r>
              <a:rPr lang="en-GB" sz="1800">
                <a:solidFill>
                  <a:srgbClr val="FF0000"/>
                </a:solidFill>
                <a:latin typeface="Calibri"/>
                <a:ea typeface="Calibri"/>
                <a:cs typeface="Calibri"/>
                <a:sym typeface="Calibri"/>
              </a:rPr>
              <a:t>and which one is your </a:t>
            </a:r>
            <a:r>
              <a:rPr lang="en-GB" sz="1800" b="1">
                <a:solidFill>
                  <a:srgbClr val="FF0000"/>
                </a:solidFill>
                <a:latin typeface="Calibri"/>
                <a:ea typeface="Calibri"/>
                <a:cs typeface="Calibri"/>
                <a:sym typeface="Calibri"/>
              </a:rPr>
              <a:t>independent variable </a:t>
            </a:r>
            <a:r>
              <a:rPr lang="en-GB" sz="1800">
                <a:solidFill>
                  <a:srgbClr val="FF0000"/>
                </a:solidFill>
                <a:latin typeface="Calibri"/>
                <a:ea typeface="Calibri"/>
                <a:cs typeface="Calibri"/>
                <a:sym typeface="Calibri"/>
              </a:rPr>
              <a:t>on this slide</a:t>
            </a:r>
            <a:endParaRPr sz="1800">
              <a:solidFill>
                <a:schemeClr val="dk1"/>
              </a:solidFill>
              <a:latin typeface="Arial"/>
              <a:ea typeface="Arial"/>
              <a:cs typeface="Arial"/>
              <a:sym typeface="Arial"/>
            </a:endParaRPr>
          </a:p>
        </p:txBody>
      </p:sp>
      <p:sp>
        <p:nvSpPr>
          <p:cNvPr id="103" name="Google Shape;103;p17"/>
          <p:cNvSpPr txBox="1"/>
          <p:nvPr/>
        </p:nvSpPr>
        <p:spPr>
          <a:xfrm>
            <a:off x="756815" y="2858006"/>
            <a:ext cx="3913204" cy="147728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1" dirty="0">
                <a:solidFill>
                  <a:srgbClr val="FF0000"/>
                </a:solidFill>
              </a:rPr>
              <a:t>T</a:t>
            </a:r>
            <a:r>
              <a:rPr lang="en-GB" sz="1800" b="1" dirty="0">
                <a:solidFill>
                  <a:srgbClr val="FF0000"/>
                </a:solidFill>
                <a:latin typeface="Arial"/>
                <a:ea typeface="Arial"/>
                <a:cs typeface="Arial"/>
                <a:sym typeface="Arial"/>
              </a:rPr>
              <a:t>he dataset has </a:t>
            </a:r>
            <a:r>
              <a:rPr lang="en-GB" sz="1800" b="1" dirty="0">
                <a:solidFill>
                  <a:srgbClr val="FF0000"/>
                </a:solidFill>
              </a:rPr>
              <a:t>374</a:t>
            </a:r>
            <a:r>
              <a:rPr lang="en-GB" sz="1800" b="1" dirty="0">
                <a:solidFill>
                  <a:srgbClr val="FF0000"/>
                </a:solidFill>
                <a:latin typeface="Arial"/>
                <a:ea typeface="Arial"/>
                <a:cs typeface="Arial"/>
                <a:sym typeface="Arial"/>
              </a:rPr>
              <a:t> rows and the variables we use are</a:t>
            </a:r>
            <a:r>
              <a:rPr lang="en-GB" sz="1800" b="1" dirty="0">
                <a:solidFill>
                  <a:srgbClr val="FF0000"/>
                </a:solidFill>
              </a:rPr>
              <a:t> Stress Level</a:t>
            </a:r>
            <a:r>
              <a:rPr lang="en-GB" sz="1800" b="1" dirty="0">
                <a:solidFill>
                  <a:srgbClr val="FF0000"/>
                </a:solidFill>
                <a:latin typeface="Arial"/>
                <a:ea typeface="Arial"/>
                <a:cs typeface="Arial"/>
                <a:sym typeface="Arial"/>
              </a:rPr>
              <a:t> (dependent variable) and Occupation (independent variable</a:t>
            </a:r>
            <a:r>
              <a:rPr lang="en-GB" sz="1800" b="1" baseline="30000" dirty="0">
                <a:solidFill>
                  <a:srgbClr val="FF0000"/>
                </a:solidFill>
                <a:latin typeface="Arial"/>
                <a:ea typeface="Arial"/>
                <a:cs typeface="Arial"/>
                <a:sym typeface="Arial"/>
              </a:rPr>
              <a:t>4</a:t>
            </a:r>
            <a:r>
              <a:rPr lang="en-GB" sz="1800" b="1" dirty="0">
                <a:solidFill>
                  <a:srgbClr val="FF0000"/>
                </a:solidFill>
                <a:latin typeface="Arial"/>
                <a:ea typeface="Arial"/>
                <a:cs typeface="Arial"/>
                <a:sym typeface="Arial"/>
              </a:rPr>
              <a:t>).</a:t>
            </a:r>
            <a:endParaRPr lang="en-US" sz="1800" b="1"/>
          </a:p>
        </p:txBody>
      </p:sp>
      <p:cxnSp>
        <p:nvCxnSpPr>
          <p:cNvPr id="104" name="Google Shape;104;p17"/>
          <p:cNvCxnSpPr/>
          <p:nvPr/>
        </p:nvCxnSpPr>
        <p:spPr>
          <a:xfrm>
            <a:off x="5268160" y="3958225"/>
            <a:ext cx="631599" cy="0"/>
          </a:xfrm>
          <a:prstGeom prst="straightConnector1">
            <a:avLst/>
          </a:prstGeom>
          <a:noFill/>
          <a:ln w="38100" cap="flat" cmpd="sng">
            <a:solidFill>
              <a:schemeClr val="dk1"/>
            </a:solidFill>
            <a:prstDash val="solid"/>
            <a:round/>
            <a:headEnd type="none" w="sm" len="sm"/>
            <a:tailEnd type="stealth" w="med" len="med"/>
          </a:ln>
        </p:spPr>
      </p:cxnSp>
      <p:graphicFrame>
        <p:nvGraphicFramePr>
          <p:cNvPr id="8" name="Table 7">
            <a:extLst>
              <a:ext uri="{FF2B5EF4-FFF2-40B4-BE49-F238E27FC236}">
                <a16:creationId xmlns:a16="http://schemas.microsoft.com/office/drawing/2014/main" id="{9DDE58EE-0B20-4B86-F5B6-0F91301DAE58}"/>
              </a:ext>
            </a:extLst>
          </p:cNvPr>
          <p:cNvGraphicFramePr>
            <a:graphicFrameLocks noGrp="1"/>
          </p:cNvGraphicFramePr>
          <p:nvPr>
            <p:extLst>
              <p:ext uri="{D42A27DB-BD31-4B8C-83A1-F6EECF244321}">
                <p14:modId xmlns:p14="http://schemas.microsoft.com/office/powerpoint/2010/main" val="19529665"/>
              </p:ext>
            </p:extLst>
          </p:nvPr>
        </p:nvGraphicFramePr>
        <p:xfrm>
          <a:off x="4549588" y="2308411"/>
          <a:ext cx="7554063" cy="2758330"/>
        </p:xfrm>
        <a:graphic>
          <a:graphicData uri="http://schemas.openxmlformats.org/drawingml/2006/table">
            <a:tbl>
              <a:tblPr firstRow="1" bandRow="1">
                <a:tableStyleId>{5C22544A-7EE6-4342-B048-85BDC9FD1C3A}</a:tableStyleId>
              </a:tblPr>
              <a:tblGrid>
                <a:gridCol w="717826">
                  <a:extLst>
                    <a:ext uri="{9D8B030D-6E8A-4147-A177-3AD203B41FA5}">
                      <a16:colId xmlns:a16="http://schemas.microsoft.com/office/drawing/2014/main" val="3877638525"/>
                    </a:ext>
                  </a:extLst>
                </a:gridCol>
                <a:gridCol w="746995">
                  <a:extLst>
                    <a:ext uri="{9D8B030D-6E8A-4147-A177-3AD203B41FA5}">
                      <a16:colId xmlns:a16="http://schemas.microsoft.com/office/drawing/2014/main" val="2554293258"/>
                    </a:ext>
                  </a:extLst>
                </a:gridCol>
                <a:gridCol w="496956">
                  <a:extLst>
                    <a:ext uri="{9D8B030D-6E8A-4147-A177-3AD203B41FA5}">
                      <a16:colId xmlns:a16="http://schemas.microsoft.com/office/drawing/2014/main" val="4075122552"/>
                    </a:ext>
                  </a:extLst>
                </a:gridCol>
                <a:gridCol w="1300170">
                  <a:extLst>
                    <a:ext uri="{9D8B030D-6E8A-4147-A177-3AD203B41FA5}">
                      <a16:colId xmlns:a16="http://schemas.microsoft.com/office/drawing/2014/main" val="1433541503"/>
                    </a:ext>
                  </a:extLst>
                </a:gridCol>
                <a:gridCol w="793083">
                  <a:extLst>
                    <a:ext uri="{9D8B030D-6E8A-4147-A177-3AD203B41FA5}">
                      <a16:colId xmlns:a16="http://schemas.microsoft.com/office/drawing/2014/main" val="3953001528"/>
                    </a:ext>
                  </a:extLst>
                </a:gridCol>
                <a:gridCol w="652394">
                  <a:extLst>
                    <a:ext uri="{9D8B030D-6E8A-4147-A177-3AD203B41FA5}">
                      <a16:colId xmlns:a16="http://schemas.microsoft.com/office/drawing/2014/main" val="51307710"/>
                    </a:ext>
                  </a:extLst>
                </a:gridCol>
                <a:gridCol w="614019">
                  <a:extLst>
                    <a:ext uri="{9D8B030D-6E8A-4147-A177-3AD203B41FA5}">
                      <a16:colId xmlns:a16="http://schemas.microsoft.com/office/drawing/2014/main" val="466120850"/>
                    </a:ext>
                  </a:extLst>
                </a:gridCol>
                <a:gridCol w="788566">
                  <a:extLst>
                    <a:ext uri="{9D8B030D-6E8A-4147-A177-3AD203B41FA5}">
                      <a16:colId xmlns:a16="http://schemas.microsoft.com/office/drawing/2014/main" val="1041479191"/>
                    </a:ext>
                  </a:extLst>
                </a:gridCol>
                <a:gridCol w="793106">
                  <a:extLst>
                    <a:ext uri="{9D8B030D-6E8A-4147-A177-3AD203B41FA5}">
                      <a16:colId xmlns:a16="http://schemas.microsoft.com/office/drawing/2014/main" val="3445482437"/>
                    </a:ext>
                  </a:extLst>
                </a:gridCol>
                <a:gridCol w="650948">
                  <a:extLst>
                    <a:ext uri="{9D8B030D-6E8A-4147-A177-3AD203B41FA5}">
                      <a16:colId xmlns:a16="http://schemas.microsoft.com/office/drawing/2014/main" val="4197271246"/>
                    </a:ext>
                  </a:extLst>
                </a:gridCol>
              </a:tblGrid>
              <a:tr h="720034">
                <a:tc>
                  <a:txBody>
                    <a:bodyPr/>
                    <a:lstStyle/>
                    <a:p>
                      <a:r>
                        <a:rPr lang="en-GB" sz="1200" b="1" dirty="0"/>
                        <a:t>Person ID</a:t>
                      </a:r>
                    </a:p>
                  </a:txBody>
                  <a:tcPr/>
                </a:tc>
                <a:tc>
                  <a:txBody>
                    <a:bodyPr/>
                    <a:lstStyle/>
                    <a:p>
                      <a:r>
                        <a:rPr lang="en-GB" sz="1200" b="1" dirty="0"/>
                        <a:t>Gender</a:t>
                      </a:r>
                    </a:p>
                  </a:txBody>
                  <a:tcPr/>
                </a:tc>
                <a:tc>
                  <a:txBody>
                    <a:bodyPr/>
                    <a:lstStyle/>
                    <a:p>
                      <a:r>
                        <a:rPr lang="en-GB" sz="1200" b="1" dirty="0"/>
                        <a:t>Age</a:t>
                      </a:r>
                    </a:p>
                  </a:txBody>
                  <a:tcPr/>
                </a:tc>
                <a:tc>
                  <a:txBody>
                    <a:bodyPr/>
                    <a:lstStyle/>
                    <a:p>
                      <a:r>
                        <a:rPr lang="en-GB" sz="1200" b="1" dirty="0"/>
                        <a:t>Occupation</a:t>
                      </a:r>
                    </a:p>
                  </a:txBody>
                  <a:tcPr/>
                </a:tc>
                <a:tc>
                  <a:txBody>
                    <a:bodyPr/>
                    <a:lstStyle/>
                    <a:p>
                      <a:r>
                        <a:rPr lang="en-GB" sz="1200" b="1" dirty="0"/>
                        <a:t>Sleep Duration</a:t>
                      </a:r>
                    </a:p>
                  </a:txBody>
                  <a:tcPr/>
                </a:tc>
                <a:tc>
                  <a:txBody>
                    <a:bodyPr/>
                    <a:lstStyle/>
                    <a:p>
                      <a:r>
                        <a:rPr lang="en-GB" sz="1200" b="1" dirty="0"/>
                        <a:t>Quality of Sleep</a:t>
                      </a:r>
                    </a:p>
                  </a:txBody>
                  <a:tcPr/>
                </a:tc>
                <a:tc>
                  <a:txBody>
                    <a:bodyPr/>
                    <a:lstStyle/>
                    <a:p>
                      <a:r>
                        <a:rPr lang="en-GB" sz="1200" b="1" dirty="0"/>
                        <a:t>Stress Level</a:t>
                      </a:r>
                    </a:p>
                  </a:txBody>
                  <a:tcPr/>
                </a:tc>
                <a:tc>
                  <a:txBody>
                    <a:bodyPr/>
                    <a:lstStyle/>
                    <a:p>
                      <a:r>
                        <a:rPr lang="en-GB" sz="1200" b="1" dirty="0"/>
                        <a:t>BMI Category</a:t>
                      </a:r>
                    </a:p>
                  </a:txBody>
                  <a:tcPr/>
                </a:tc>
                <a:tc>
                  <a:txBody>
                    <a:bodyPr/>
                    <a:lstStyle/>
                    <a:p>
                      <a:r>
                        <a:rPr lang="en-GB" sz="1200" b="1" dirty="0"/>
                        <a:t>Blood Pressure</a:t>
                      </a:r>
                    </a:p>
                  </a:txBody>
                  <a:tcPr/>
                </a:tc>
                <a:tc>
                  <a:txBody>
                    <a:bodyPr/>
                    <a:lstStyle/>
                    <a:p>
                      <a:pPr lvl="0">
                        <a:buNone/>
                      </a:pPr>
                      <a:r>
                        <a:rPr lang="en-GB" sz="1200" b="1" dirty="0"/>
                        <a:t>Daily Steps</a:t>
                      </a:r>
                    </a:p>
                  </a:txBody>
                  <a:tcPr/>
                </a:tc>
                <a:extLst>
                  <a:ext uri="{0D108BD9-81ED-4DB2-BD59-A6C34878D82A}">
                    <a16:rowId xmlns:a16="http://schemas.microsoft.com/office/drawing/2014/main" val="4169934941"/>
                  </a:ext>
                </a:extLst>
              </a:tr>
              <a:tr h="453355">
                <a:tc>
                  <a:txBody>
                    <a:bodyPr/>
                    <a:lstStyle/>
                    <a:p>
                      <a:r>
                        <a:rPr lang="en-GB" sz="1200" b="1" dirty="0"/>
                        <a:t>1</a:t>
                      </a:r>
                    </a:p>
                  </a:txBody>
                  <a:tcPr/>
                </a:tc>
                <a:tc>
                  <a:txBody>
                    <a:bodyPr/>
                    <a:lstStyle/>
                    <a:p>
                      <a:r>
                        <a:rPr lang="en-GB" sz="1200" b="1" dirty="0"/>
                        <a:t>Male</a:t>
                      </a:r>
                    </a:p>
                  </a:txBody>
                  <a:tcPr/>
                </a:tc>
                <a:tc>
                  <a:txBody>
                    <a:bodyPr/>
                    <a:lstStyle/>
                    <a:p>
                      <a:r>
                        <a:rPr lang="en-GB" sz="1200" b="1" dirty="0"/>
                        <a:t>27</a:t>
                      </a:r>
                    </a:p>
                  </a:txBody>
                  <a:tcPr/>
                </a:tc>
                <a:tc>
                  <a:txBody>
                    <a:bodyPr/>
                    <a:lstStyle/>
                    <a:p>
                      <a:r>
                        <a:rPr lang="en-GB" sz="1200" b="1" dirty="0"/>
                        <a:t>Software Engineer</a:t>
                      </a:r>
                    </a:p>
                  </a:txBody>
                  <a:tcPr/>
                </a:tc>
                <a:tc>
                  <a:txBody>
                    <a:bodyPr/>
                    <a:lstStyle/>
                    <a:p>
                      <a:r>
                        <a:rPr lang="en-GB" sz="1200" b="1" dirty="0"/>
                        <a:t>6.1</a:t>
                      </a:r>
                    </a:p>
                  </a:txBody>
                  <a:tcPr/>
                </a:tc>
                <a:tc>
                  <a:txBody>
                    <a:bodyPr/>
                    <a:lstStyle/>
                    <a:p>
                      <a:r>
                        <a:rPr lang="en-GB" sz="1200" b="1" dirty="0"/>
                        <a:t>6</a:t>
                      </a:r>
                    </a:p>
                  </a:txBody>
                  <a:tcPr/>
                </a:tc>
                <a:tc>
                  <a:txBody>
                    <a:bodyPr/>
                    <a:lstStyle/>
                    <a:p>
                      <a:r>
                        <a:rPr lang="en-GB" sz="1200" b="1" dirty="0"/>
                        <a:t>6</a:t>
                      </a:r>
                    </a:p>
                  </a:txBody>
                  <a:tcPr/>
                </a:tc>
                <a:tc>
                  <a:txBody>
                    <a:bodyPr/>
                    <a:lstStyle/>
                    <a:p>
                      <a:r>
                        <a:rPr lang="en-GB" sz="1200" b="1" dirty="0"/>
                        <a:t>Over-weight</a:t>
                      </a:r>
                    </a:p>
                  </a:txBody>
                  <a:tcPr/>
                </a:tc>
                <a:tc>
                  <a:txBody>
                    <a:bodyPr/>
                    <a:lstStyle/>
                    <a:p>
                      <a:pPr lvl="0">
                        <a:buNone/>
                      </a:pPr>
                      <a:r>
                        <a:rPr lang="en-GB" sz="1200" b="1" dirty="0"/>
                        <a:t>126/83</a:t>
                      </a:r>
                    </a:p>
                  </a:txBody>
                  <a:tcPr/>
                </a:tc>
                <a:tc>
                  <a:txBody>
                    <a:bodyPr/>
                    <a:lstStyle/>
                    <a:p>
                      <a:pPr lvl="0">
                        <a:buNone/>
                      </a:pPr>
                      <a:r>
                        <a:rPr lang="en-GB" sz="1200" b="1" dirty="0"/>
                        <a:t>4200</a:t>
                      </a:r>
                    </a:p>
                  </a:txBody>
                  <a:tcPr/>
                </a:tc>
                <a:extLst>
                  <a:ext uri="{0D108BD9-81ED-4DB2-BD59-A6C34878D82A}">
                    <a16:rowId xmlns:a16="http://schemas.microsoft.com/office/drawing/2014/main" val="4235842001"/>
                  </a:ext>
                </a:extLst>
              </a:tr>
              <a:tr h="333348">
                <a:tc>
                  <a:txBody>
                    <a:bodyPr/>
                    <a:lstStyle/>
                    <a:p>
                      <a:r>
                        <a:rPr lang="en-GB" sz="1200" b="1" dirty="0"/>
                        <a:t>2</a:t>
                      </a:r>
                    </a:p>
                  </a:txBody>
                  <a:tcPr/>
                </a:tc>
                <a:tc>
                  <a:txBody>
                    <a:bodyPr/>
                    <a:lstStyle/>
                    <a:p>
                      <a:pPr lvl="0">
                        <a:buNone/>
                      </a:pPr>
                      <a:r>
                        <a:rPr lang="en-GB" sz="1200" b="1" i="0" u="none" strike="noStrike" noProof="0" dirty="0">
                          <a:solidFill>
                            <a:srgbClr val="203232"/>
                          </a:solidFill>
                          <a:latin typeface="Arial"/>
                        </a:rPr>
                        <a:t>Male</a:t>
                      </a:r>
                      <a:endParaRPr lang="en-US" dirty="0"/>
                    </a:p>
                  </a:txBody>
                  <a:tcPr/>
                </a:tc>
                <a:tc>
                  <a:txBody>
                    <a:bodyPr/>
                    <a:lstStyle/>
                    <a:p>
                      <a:r>
                        <a:rPr lang="en-GB" sz="1200" b="1" dirty="0"/>
                        <a:t>28</a:t>
                      </a:r>
                    </a:p>
                  </a:txBody>
                  <a:tcPr/>
                </a:tc>
                <a:tc>
                  <a:txBody>
                    <a:bodyPr/>
                    <a:lstStyle/>
                    <a:p>
                      <a:r>
                        <a:rPr lang="en-GB" sz="1200" b="1" dirty="0"/>
                        <a:t>Doctor</a:t>
                      </a:r>
                    </a:p>
                  </a:txBody>
                  <a:tcPr/>
                </a:tc>
                <a:tc>
                  <a:txBody>
                    <a:bodyPr/>
                    <a:lstStyle/>
                    <a:p>
                      <a:r>
                        <a:rPr lang="en-GB" sz="1200" b="1" dirty="0"/>
                        <a:t>6.2</a:t>
                      </a:r>
                    </a:p>
                  </a:txBody>
                  <a:tcPr/>
                </a:tc>
                <a:tc>
                  <a:txBody>
                    <a:bodyPr/>
                    <a:lstStyle/>
                    <a:p>
                      <a:r>
                        <a:rPr lang="en-GB" sz="1200" b="1" dirty="0"/>
                        <a:t>6</a:t>
                      </a:r>
                    </a:p>
                  </a:txBody>
                  <a:tcPr/>
                </a:tc>
                <a:tc>
                  <a:txBody>
                    <a:bodyPr/>
                    <a:lstStyle/>
                    <a:p>
                      <a:r>
                        <a:rPr lang="en-GB" sz="1200" b="1" dirty="0"/>
                        <a:t>8</a:t>
                      </a:r>
                    </a:p>
                  </a:txBody>
                  <a:tcPr/>
                </a:tc>
                <a:tc>
                  <a:txBody>
                    <a:bodyPr/>
                    <a:lstStyle/>
                    <a:p>
                      <a:r>
                        <a:rPr lang="en-GB" sz="1200" b="1" dirty="0"/>
                        <a:t>Normal</a:t>
                      </a:r>
                    </a:p>
                  </a:txBody>
                  <a:tcPr/>
                </a:tc>
                <a:tc>
                  <a:txBody>
                    <a:bodyPr/>
                    <a:lstStyle/>
                    <a:p>
                      <a:r>
                        <a:rPr lang="en-GB" sz="1200" b="1" dirty="0"/>
                        <a:t>125/80</a:t>
                      </a:r>
                    </a:p>
                  </a:txBody>
                  <a:tcPr/>
                </a:tc>
                <a:tc>
                  <a:txBody>
                    <a:bodyPr/>
                    <a:lstStyle/>
                    <a:p>
                      <a:pPr lvl="0">
                        <a:buNone/>
                      </a:pPr>
                      <a:r>
                        <a:rPr lang="en-GB" sz="1200" b="1" dirty="0"/>
                        <a:t>10000</a:t>
                      </a:r>
                    </a:p>
                  </a:txBody>
                  <a:tcPr/>
                </a:tc>
                <a:extLst>
                  <a:ext uri="{0D108BD9-81ED-4DB2-BD59-A6C34878D82A}">
                    <a16:rowId xmlns:a16="http://schemas.microsoft.com/office/drawing/2014/main" val="3642651279"/>
                  </a:ext>
                </a:extLst>
              </a:tr>
              <a:tr h="333348">
                <a:tc>
                  <a:txBody>
                    <a:bodyPr/>
                    <a:lstStyle/>
                    <a:p>
                      <a:r>
                        <a:rPr lang="en-GB" sz="1200" b="1" dirty="0"/>
                        <a:t>3</a:t>
                      </a:r>
                    </a:p>
                  </a:txBody>
                  <a:tcPr/>
                </a:tc>
                <a:tc>
                  <a:txBody>
                    <a:bodyPr/>
                    <a:lstStyle/>
                    <a:p>
                      <a:pPr lvl="0">
                        <a:buNone/>
                      </a:pPr>
                      <a:r>
                        <a:rPr lang="en-GB" sz="1200" b="1" i="0" u="none" strike="noStrike" noProof="0" dirty="0">
                          <a:solidFill>
                            <a:srgbClr val="203232"/>
                          </a:solidFill>
                          <a:latin typeface="Arial"/>
                        </a:rPr>
                        <a:t>Male</a:t>
                      </a:r>
                      <a:endParaRPr lang="en-US" dirty="0"/>
                    </a:p>
                  </a:txBody>
                  <a:tcPr/>
                </a:tc>
                <a:tc>
                  <a:txBody>
                    <a:bodyPr/>
                    <a:lstStyle/>
                    <a:p>
                      <a:r>
                        <a:rPr lang="en-GB" sz="1200" b="1" dirty="0"/>
                        <a:t>28</a:t>
                      </a:r>
                    </a:p>
                  </a:txBody>
                  <a:tcPr/>
                </a:tc>
                <a:tc>
                  <a:txBody>
                    <a:bodyPr/>
                    <a:lstStyle/>
                    <a:p>
                      <a:pPr lvl="0">
                        <a:buNone/>
                      </a:pPr>
                      <a:r>
                        <a:rPr lang="en-GB" sz="1200" b="1" dirty="0"/>
                        <a:t>Doctor</a:t>
                      </a:r>
                    </a:p>
                  </a:txBody>
                  <a:tcPr/>
                </a:tc>
                <a:tc>
                  <a:txBody>
                    <a:bodyPr/>
                    <a:lstStyle/>
                    <a:p>
                      <a:r>
                        <a:rPr lang="en-GB" sz="1200" b="1" dirty="0"/>
                        <a:t>6.2</a:t>
                      </a:r>
                    </a:p>
                  </a:txBody>
                  <a:tcPr/>
                </a:tc>
                <a:tc>
                  <a:txBody>
                    <a:bodyPr/>
                    <a:lstStyle/>
                    <a:p>
                      <a:r>
                        <a:rPr lang="en-GB" sz="1200" b="1" dirty="0"/>
                        <a:t>6</a:t>
                      </a:r>
                    </a:p>
                  </a:txBody>
                  <a:tcPr/>
                </a:tc>
                <a:tc>
                  <a:txBody>
                    <a:bodyPr/>
                    <a:lstStyle/>
                    <a:p>
                      <a:r>
                        <a:rPr lang="en-GB" sz="1200" b="1" dirty="0"/>
                        <a:t>8</a:t>
                      </a:r>
                    </a:p>
                  </a:txBody>
                  <a:tcPr/>
                </a:tc>
                <a:tc>
                  <a:txBody>
                    <a:bodyPr/>
                    <a:lstStyle/>
                    <a:p>
                      <a:r>
                        <a:rPr lang="en-GB" sz="1200" b="1" dirty="0"/>
                        <a:t>Normal</a:t>
                      </a:r>
                    </a:p>
                  </a:txBody>
                  <a:tcPr/>
                </a:tc>
                <a:tc>
                  <a:txBody>
                    <a:bodyPr/>
                    <a:lstStyle/>
                    <a:p>
                      <a:r>
                        <a:rPr lang="en-GB" sz="1200" b="1" dirty="0"/>
                        <a:t>125/80</a:t>
                      </a:r>
                    </a:p>
                  </a:txBody>
                  <a:tcPr/>
                </a:tc>
                <a:tc>
                  <a:txBody>
                    <a:bodyPr/>
                    <a:lstStyle/>
                    <a:p>
                      <a:pPr lvl="0">
                        <a:buNone/>
                      </a:pPr>
                      <a:r>
                        <a:rPr lang="en-GB" sz="1200" b="1" dirty="0"/>
                        <a:t>10000</a:t>
                      </a:r>
                    </a:p>
                  </a:txBody>
                  <a:tcPr/>
                </a:tc>
                <a:extLst>
                  <a:ext uri="{0D108BD9-81ED-4DB2-BD59-A6C34878D82A}">
                    <a16:rowId xmlns:a16="http://schemas.microsoft.com/office/drawing/2014/main" val="4294176204"/>
                  </a:ext>
                </a:extLst>
              </a:tr>
              <a:tr h="453355">
                <a:tc>
                  <a:txBody>
                    <a:bodyPr/>
                    <a:lstStyle/>
                    <a:p>
                      <a:r>
                        <a:rPr lang="en-GB" sz="1200" b="1" dirty="0"/>
                        <a:t>4</a:t>
                      </a:r>
                    </a:p>
                  </a:txBody>
                  <a:tcPr/>
                </a:tc>
                <a:tc>
                  <a:txBody>
                    <a:bodyPr/>
                    <a:lstStyle/>
                    <a:p>
                      <a:pPr lvl="0">
                        <a:buNone/>
                      </a:pPr>
                      <a:r>
                        <a:rPr lang="en-GB" sz="1200" b="1" i="0" u="none" strike="noStrike" noProof="0" dirty="0">
                          <a:solidFill>
                            <a:srgbClr val="203232"/>
                          </a:solidFill>
                          <a:latin typeface="Arial"/>
                        </a:rPr>
                        <a:t>Male</a:t>
                      </a:r>
                      <a:endParaRPr lang="en-US" dirty="0"/>
                    </a:p>
                  </a:txBody>
                  <a:tcPr/>
                </a:tc>
                <a:tc>
                  <a:txBody>
                    <a:bodyPr/>
                    <a:lstStyle/>
                    <a:p>
                      <a:r>
                        <a:rPr lang="en-GB" sz="1200" b="1" dirty="0"/>
                        <a:t>28</a:t>
                      </a:r>
                    </a:p>
                  </a:txBody>
                  <a:tcPr/>
                </a:tc>
                <a:tc>
                  <a:txBody>
                    <a:bodyPr/>
                    <a:lstStyle/>
                    <a:p>
                      <a:r>
                        <a:rPr lang="en-GB" sz="1200" b="1" dirty="0"/>
                        <a:t>Sales Representative</a:t>
                      </a:r>
                    </a:p>
                  </a:txBody>
                  <a:tcPr/>
                </a:tc>
                <a:tc>
                  <a:txBody>
                    <a:bodyPr/>
                    <a:lstStyle/>
                    <a:p>
                      <a:r>
                        <a:rPr lang="en-GB" sz="1200" b="1" dirty="0"/>
                        <a:t>5.9</a:t>
                      </a:r>
                    </a:p>
                  </a:txBody>
                  <a:tcPr/>
                </a:tc>
                <a:tc>
                  <a:txBody>
                    <a:bodyPr/>
                    <a:lstStyle/>
                    <a:p>
                      <a:r>
                        <a:rPr lang="en-GB" sz="1200" b="1" dirty="0"/>
                        <a:t>4</a:t>
                      </a:r>
                    </a:p>
                  </a:txBody>
                  <a:tcPr/>
                </a:tc>
                <a:tc>
                  <a:txBody>
                    <a:bodyPr/>
                    <a:lstStyle/>
                    <a:p>
                      <a:r>
                        <a:rPr lang="en-GB" sz="1200" b="1" dirty="0"/>
                        <a:t>8</a:t>
                      </a:r>
                    </a:p>
                  </a:txBody>
                  <a:tcPr/>
                </a:tc>
                <a:tc>
                  <a:txBody>
                    <a:bodyPr/>
                    <a:lstStyle/>
                    <a:p>
                      <a:r>
                        <a:rPr lang="en-GB" sz="1200" b="1" dirty="0"/>
                        <a:t>Obese</a:t>
                      </a:r>
                    </a:p>
                  </a:txBody>
                  <a:tcPr/>
                </a:tc>
                <a:tc>
                  <a:txBody>
                    <a:bodyPr/>
                    <a:lstStyle/>
                    <a:p>
                      <a:r>
                        <a:rPr lang="en-GB" sz="1200" b="1" dirty="0"/>
                        <a:t>140/90</a:t>
                      </a:r>
                    </a:p>
                  </a:txBody>
                  <a:tcPr/>
                </a:tc>
                <a:tc>
                  <a:txBody>
                    <a:bodyPr/>
                    <a:lstStyle/>
                    <a:p>
                      <a:pPr lvl="0">
                        <a:buNone/>
                      </a:pPr>
                      <a:r>
                        <a:rPr lang="en-GB" sz="1200" b="1" dirty="0"/>
                        <a:t>3000</a:t>
                      </a:r>
                    </a:p>
                  </a:txBody>
                  <a:tcPr/>
                </a:tc>
                <a:extLst>
                  <a:ext uri="{0D108BD9-81ED-4DB2-BD59-A6C34878D82A}">
                    <a16:rowId xmlns:a16="http://schemas.microsoft.com/office/drawing/2014/main" val="652966668"/>
                  </a:ext>
                </a:extLst>
              </a:tr>
              <a:tr h="453355">
                <a:tc>
                  <a:txBody>
                    <a:bodyPr/>
                    <a:lstStyle/>
                    <a:p>
                      <a:pPr lvl="0">
                        <a:buNone/>
                      </a:pPr>
                      <a:r>
                        <a:rPr lang="en-GB" sz="1200" b="1" dirty="0"/>
                        <a:t>5</a:t>
                      </a:r>
                    </a:p>
                  </a:txBody>
                  <a:tcPr/>
                </a:tc>
                <a:tc>
                  <a:txBody>
                    <a:bodyPr/>
                    <a:lstStyle/>
                    <a:p>
                      <a:pPr lvl="0">
                        <a:buNone/>
                      </a:pPr>
                      <a:r>
                        <a:rPr lang="en-GB" sz="1200" b="1" i="0" u="none" strike="noStrike" noProof="0" dirty="0">
                          <a:solidFill>
                            <a:srgbClr val="203232"/>
                          </a:solidFill>
                          <a:latin typeface="Arial"/>
                        </a:rPr>
                        <a:t>Male</a:t>
                      </a:r>
                      <a:endParaRPr lang="en-US" dirty="0"/>
                    </a:p>
                  </a:txBody>
                  <a:tcPr/>
                </a:tc>
                <a:tc>
                  <a:txBody>
                    <a:bodyPr/>
                    <a:lstStyle/>
                    <a:p>
                      <a:pPr lvl="0">
                        <a:buNone/>
                      </a:pPr>
                      <a:r>
                        <a:rPr lang="en-GB" sz="1200" b="1" dirty="0"/>
                        <a:t>28</a:t>
                      </a:r>
                    </a:p>
                  </a:txBody>
                  <a:tcPr/>
                </a:tc>
                <a:tc>
                  <a:txBody>
                    <a:bodyPr/>
                    <a:lstStyle/>
                    <a:p>
                      <a:pPr lvl="0">
                        <a:buNone/>
                      </a:pPr>
                      <a:r>
                        <a:rPr lang="en-GB" sz="1200" b="1" i="0" u="none" strike="noStrike" noProof="0" dirty="0">
                          <a:solidFill>
                            <a:srgbClr val="203232"/>
                          </a:solidFill>
                          <a:latin typeface="Arial"/>
                        </a:rPr>
                        <a:t>Sales Representative</a:t>
                      </a:r>
                      <a:endParaRPr lang="en-GB" sz="1200" b="1" dirty="0"/>
                    </a:p>
                  </a:txBody>
                  <a:tcPr/>
                </a:tc>
                <a:tc>
                  <a:txBody>
                    <a:bodyPr/>
                    <a:lstStyle/>
                    <a:p>
                      <a:pPr lvl="0">
                        <a:buNone/>
                      </a:pPr>
                      <a:r>
                        <a:rPr lang="en-GB" sz="1200" b="1" dirty="0"/>
                        <a:t>5.9</a:t>
                      </a:r>
                    </a:p>
                  </a:txBody>
                  <a:tcPr/>
                </a:tc>
                <a:tc>
                  <a:txBody>
                    <a:bodyPr/>
                    <a:lstStyle/>
                    <a:p>
                      <a:pPr lvl="0">
                        <a:buNone/>
                      </a:pPr>
                      <a:r>
                        <a:rPr lang="en-GB" sz="1200" b="1" dirty="0"/>
                        <a:t>4</a:t>
                      </a:r>
                    </a:p>
                  </a:txBody>
                  <a:tcPr/>
                </a:tc>
                <a:tc>
                  <a:txBody>
                    <a:bodyPr/>
                    <a:lstStyle/>
                    <a:p>
                      <a:pPr lvl="0">
                        <a:buNone/>
                      </a:pPr>
                      <a:r>
                        <a:rPr lang="en-GB" sz="1200" b="1" dirty="0"/>
                        <a:t>8</a:t>
                      </a:r>
                    </a:p>
                  </a:txBody>
                  <a:tcPr/>
                </a:tc>
                <a:tc>
                  <a:txBody>
                    <a:bodyPr/>
                    <a:lstStyle/>
                    <a:p>
                      <a:pPr lvl="0">
                        <a:buNone/>
                      </a:pPr>
                      <a:r>
                        <a:rPr lang="en-GB" sz="1200" b="1" dirty="0"/>
                        <a:t>Obese</a:t>
                      </a:r>
                    </a:p>
                  </a:txBody>
                  <a:tcPr/>
                </a:tc>
                <a:tc>
                  <a:txBody>
                    <a:bodyPr/>
                    <a:lstStyle/>
                    <a:p>
                      <a:pPr lvl="0">
                        <a:buNone/>
                      </a:pPr>
                      <a:r>
                        <a:rPr lang="en-GB" sz="1200" b="1" dirty="0"/>
                        <a:t>140/90</a:t>
                      </a:r>
                    </a:p>
                  </a:txBody>
                  <a:tcPr/>
                </a:tc>
                <a:tc>
                  <a:txBody>
                    <a:bodyPr/>
                    <a:lstStyle/>
                    <a:p>
                      <a:pPr lvl="0">
                        <a:buNone/>
                      </a:pPr>
                      <a:r>
                        <a:rPr lang="en-GB" sz="1200" b="1" dirty="0"/>
                        <a:t>3000</a:t>
                      </a:r>
                    </a:p>
                  </a:txBody>
                  <a:tcPr/>
                </a:tc>
                <a:extLst>
                  <a:ext uri="{0D108BD9-81ED-4DB2-BD59-A6C34878D82A}">
                    <a16:rowId xmlns:a16="http://schemas.microsoft.com/office/drawing/2014/main" val="328027715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3</a:t>
            </a:fld>
            <a:endParaRPr lang="en-GB"/>
          </a:p>
        </p:txBody>
      </p:sp>
      <p:sp>
        <p:nvSpPr>
          <p:cNvPr id="8" name="Title 1">
            <a:extLst>
              <a:ext uri="{FF2B5EF4-FFF2-40B4-BE49-F238E27FC236}">
                <a16:creationId xmlns:a16="http://schemas.microsoft.com/office/drawing/2014/main" id="{8BE9D2FB-1A51-C1E4-A8F8-6ED9DAC0A642}"/>
              </a:ext>
            </a:extLst>
          </p:cNvPr>
          <p:cNvSpPr txBox="1">
            <a:spLocks/>
          </p:cNvSpPr>
          <p:nvPr/>
        </p:nvSpPr>
        <p:spPr>
          <a:xfrm>
            <a:off x="760216" y="783734"/>
            <a:ext cx="9572196" cy="74031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200000"/>
              </a:lnSpc>
              <a:spcBef>
                <a:spcPts val="0"/>
              </a:spcBef>
              <a:spcAft>
                <a:spcPts val="0"/>
              </a:spcAft>
              <a:buClr>
                <a:srgbClr val="203232"/>
              </a:buClr>
              <a:buSzPts val="1800"/>
              <a:buFont typeface="Arial"/>
              <a:buNone/>
              <a:defRPr sz="3600" b="1" i="0" u="none" strike="noStrike" cap="none">
                <a:solidFill>
                  <a:srgbClr val="20323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800" dirty="0"/>
              <a:t>Graph 1: Histogram for stress level by Occupation</a:t>
            </a:r>
          </a:p>
        </p:txBody>
      </p:sp>
      <p:sp>
        <p:nvSpPr>
          <p:cNvPr id="10" name="Google Shape;100;p17">
            <a:extLst>
              <a:ext uri="{FF2B5EF4-FFF2-40B4-BE49-F238E27FC236}">
                <a16:creationId xmlns:a16="http://schemas.microsoft.com/office/drawing/2014/main" id="{CCF9939D-5C3A-A412-C00F-99B491FF974A}"/>
              </a:ext>
            </a:extLst>
          </p:cNvPr>
          <p:cNvSpPr txBox="1">
            <a:spLocks noGrp="1"/>
          </p:cNvSpPr>
          <p:nvPr>
            <p:ph type="ftr" idx="11"/>
          </p:nvPr>
        </p:nvSpPr>
        <p:spPr>
          <a:xfrm>
            <a:off x="755462" y="548066"/>
            <a:ext cx="10104598" cy="242037"/>
          </a:xfrm>
          <a:prstGeom prst="rect">
            <a:avLst/>
          </a:prstGeom>
          <a:noFill/>
          <a:ln>
            <a:noFill/>
          </a:ln>
        </p:spPr>
        <p:txBody>
          <a:bodyPr spcFirstLastPara="1" wrap="square" lIns="0" tIns="0" rIns="0" bIns="0" anchor="t" anchorCtr="0">
            <a:noAutofit/>
          </a:bodyPr>
          <a:lstStyle/>
          <a:p>
            <a:r>
              <a:rPr lang="en-GB" dirty="0"/>
              <a:t>7COM1079-2025  Student Group No:    A 104    Names of Student Group Attendees: All group members</a:t>
            </a:r>
            <a:endParaRPr dirty="0"/>
          </a:p>
        </p:txBody>
      </p:sp>
      <p:pic>
        <p:nvPicPr>
          <p:cNvPr id="2" name="Picture 1" descr="A graph of a stress level&#10;&#10;AI-generated content may be incorrect.">
            <a:extLst>
              <a:ext uri="{FF2B5EF4-FFF2-40B4-BE49-F238E27FC236}">
                <a16:creationId xmlns:a16="http://schemas.microsoft.com/office/drawing/2014/main" id="{1AB3AF68-58FC-0DF7-6216-AFCB8B73A895}"/>
              </a:ext>
            </a:extLst>
          </p:cNvPr>
          <p:cNvPicPr>
            <a:picLocks noChangeAspect="1"/>
          </p:cNvPicPr>
          <p:nvPr/>
        </p:nvPicPr>
        <p:blipFill>
          <a:blip r:embed="rId2"/>
          <a:stretch>
            <a:fillRect/>
          </a:stretch>
        </p:blipFill>
        <p:spPr>
          <a:xfrm>
            <a:off x="2536521" y="1534438"/>
            <a:ext cx="7108521" cy="532356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5ACE6-A6B8-AB84-607C-EBA39374A7D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991904C-98A1-489B-4E1A-E77DBBFC21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4</a:t>
            </a:fld>
            <a:endParaRPr lang="en-GB"/>
          </a:p>
        </p:txBody>
      </p:sp>
      <p:sp>
        <p:nvSpPr>
          <p:cNvPr id="8" name="Title 1">
            <a:extLst>
              <a:ext uri="{FF2B5EF4-FFF2-40B4-BE49-F238E27FC236}">
                <a16:creationId xmlns:a16="http://schemas.microsoft.com/office/drawing/2014/main" id="{24844C1B-542A-E25B-66FA-5CEBB247C19F}"/>
              </a:ext>
            </a:extLst>
          </p:cNvPr>
          <p:cNvSpPr txBox="1">
            <a:spLocks/>
          </p:cNvSpPr>
          <p:nvPr/>
        </p:nvSpPr>
        <p:spPr>
          <a:xfrm>
            <a:off x="759007" y="789180"/>
            <a:ext cx="10477759" cy="813839"/>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200000"/>
              </a:lnSpc>
              <a:spcBef>
                <a:spcPts val="0"/>
              </a:spcBef>
              <a:spcAft>
                <a:spcPts val="0"/>
              </a:spcAft>
              <a:buClr>
                <a:srgbClr val="203232"/>
              </a:buClr>
              <a:buSzPts val="1800"/>
              <a:buFont typeface="Arial"/>
              <a:buNone/>
              <a:defRPr sz="3600" b="1" i="0" u="none" strike="noStrike" cap="none">
                <a:solidFill>
                  <a:srgbClr val="20323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2800" dirty="0"/>
              <a:t>Graph 2: Box Plot for stress levels among both occupations</a:t>
            </a:r>
            <a:endParaRPr lang="en-US" sz="2800"/>
          </a:p>
        </p:txBody>
      </p:sp>
      <p:pic>
        <p:nvPicPr>
          <p:cNvPr id="10" name="Google Shape;114;p18" descr="A chart of stress levels between doctors and engineers&#10;&#10;AI-generated content may be incorrect.">
            <a:extLst>
              <a:ext uri="{FF2B5EF4-FFF2-40B4-BE49-F238E27FC236}">
                <a16:creationId xmlns:a16="http://schemas.microsoft.com/office/drawing/2014/main" id="{34F49746-D336-F738-3860-38FF16952E39}"/>
              </a:ext>
            </a:extLst>
          </p:cNvPr>
          <p:cNvPicPr preferRelativeResize="0"/>
          <p:nvPr/>
        </p:nvPicPr>
        <p:blipFill>
          <a:blip r:embed="rId2">
            <a:alphaModFix/>
          </a:blip>
          <a:stretch>
            <a:fillRect/>
          </a:stretch>
        </p:blipFill>
        <p:spPr>
          <a:xfrm>
            <a:off x="2135802" y="1606960"/>
            <a:ext cx="7928295" cy="5111309"/>
          </a:xfrm>
          <a:prstGeom prst="rect">
            <a:avLst/>
          </a:prstGeom>
          <a:noFill/>
          <a:ln>
            <a:noFill/>
          </a:ln>
        </p:spPr>
      </p:pic>
      <p:sp>
        <p:nvSpPr>
          <p:cNvPr id="3" name="Google Shape;100;p17">
            <a:extLst>
              <a:ext uri="{FF2B5EF4-FFF2-40B4-BE49-F238E27FC236}">
                <a16:creationId xmlns:a16="http://schemas.microsoft.com/office/drawing/2014/main" id="{3F297785-7B5E-D6A8-80A6-0F99F8406F9B}"/>
              </a:ext>
            </a:extLst>
          </p:cNvPr>
          <p:cNvSpPr txBox="1">
            <a:spLocks noGrp="1"/>
          </p:cNvSpPr>
          <p:nvPr>
            <p:ph type="ftr" idx="11"/>
          </p:nvPr>
        </p:nvSpPr>
        <p:spPr>
          <a:xfrm>
            <a:off x="755462" y="548066"/>
            <a:ext cx="10104598" cy="242037"/>
          </a:xfrm>
          <a:prstGeom prst="rect">
            <a:avLst/>
          </a:prstGeom>
          <a:noFill/>
          <a:ln>
            <a:noFill/>
          </a:ln>
        </p:spPr>
        <p:txBody>
          <a:bodyPr spcFirstLastPara="1" wrap="square" lIns="0" tIns="0" rIns="0" bIns="0" anchor="t" anchorCtr="0">
            <a:noAutofit/>
          </a:bodyPr>
          <a:lstStyle/>
          <a:p>
            <a:r>
              <a:rPr lang="en-GB" dirty="0"/>
              <a:t>7COM1079-2025  Student Group No:    A 104    Names of Student Group Attendees: All group members</a:t>
            </a:r>
            <a:endParaRPr dirty="0"/>
          </a:p>
        </p:txBody>
      </p:sp>
    </p:spTree>
    <p:extLst>
      <p:ext uri="{BB962C8B-B14F-4D97-AF65-F5344CB8AC3E}">
        <p14:creationId xmlns:p14="http://schemas.microsoft.com/office/powerpoint/2010/main" val="1903470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0" y="0"/>
            <a:ext cx="12191760" cy="685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5" name="CustomShape 2"/>
          <p:cNvSpPr/>
          <p:nvPr/>
        </p:nvSpPr>
        <p:spPr>
          <a:xfrm rot="10800000" flipH="1">
            <a:off x="360" y="360"/>
            <a:ext cx="12191760" cy="1575720"/>
          </a:xfrm>
          <a:prstGeom prst="rect">
            <a:avLst/>
          </a:prstGeom>
          <a:gradFill rotWithShape="0">
            <a:gsLst>
              <a:gs pos="0">
                <a:srgbClr val="000000">
                  <a:alpha val="96078"/>
                </a:srgbClr>
              </a:gs>
              <a:gs pos="100000">
                <a:srgbClr val="77418E"/>
              </a:gs>
            </a:gsLst>
            <a:lin ang="156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6" name="CustomShape 3"/>
          <p:cNvSpPr/>
          <p:nvPr/>
        </p:nvSpPr>
        <p:spPr>
          <a:xfrm>
            <a:off x="0" y="0"/>
            <a:ext cx="8128440" cy="1575000"/>
          </a:xfrm>
          <a:prstGeom prst="rect">
            <a:avLst/>
          </a:prstGeom>
          <a:gradFill rotWithShape="0">
            <a:gsLst>
              <a:gs pos="26000">
                <a:srgbClr val="C49FD3">
                  <a:alpha val="0"/>
                </a:srgbClr>
              </a:gs>
              <a:gs pos="100000">
                <a:srgbClr val="9C5FB5">
                  <a:alpha val="41176"/>
                </a:srgbClr>
              </a:gs>
            </a:gsLst>
            <a:lin ang="192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7" name="CustomShape 4"/>
          <p:cNvSpPr/>
          <p:nvPr/>
        </p:nvSpPr>
        <p:spPr>
          <a:xfrm flipH="1">
            <a:off x="0" y="0"/>
            <a:ext cx="12191760" cy="1573920"/>
          </a:xfrm>
          <a:prstGeom prst="rect">
            <a:avLst/>
          </a:prstGeom>
          <a:gradFill rotWithShape="0">
            <a:gsLst>
              <a:gs pos="22000">
                <a:srgbClr val="9C5FB5">
                  <a:alpha val="15294"/>
                </a:srgbClr>
              </a:gs>
              <a:gs pos="100000">
                <a:srgbClr val="000000">
                  <a:alpha val="63137"/>
                </a:srgbClr>
              </a:gs>
            </a:gsLst>
            <a:lin ang="6000000"/>
          </a:gradFill>
          <a:ln>
            <a:noFill/>
          </a:ln>
        </p:spPr>
        <p:style>
          <a:lnRef idx="2">
            <a:schemeClr val="accent1">
              <a:shade val="50000"/>
            </a:schemeClr>
          </a:lnRef>
          <a:fillRef idx="1">
            <a:schemeClr val="accent1"/>
          </a:fillRef>
          <a:effectRef idx="0">
            <a:schemeClr val="accent1"/>
          </a:effectRef>
          <a:fontRef idx="minor"/>
        </p:style>
        <p:txBody>
          <a:bodyPr/>
          <a:lstStyle/>
          <a:p>
            <a:endParaRPr lang="en-GB"/>
          </a:p>
        </p:txBody>
      </p:sp>
      <p:sp>
        <p:nvSpPr>
          <p:cNvPr id="108" name="TextShape 5"/>
          <p:cNvSpPr txBox="1"/>
          <p:nvPr/>
        </p:nvSpPr>
        <p:spPr>
          <a:xfrm>
            <a:off x="290880" y="158400"/>
            <a:ext cx="7063200" cy="1158840"/>
          </a:xfrm>
          <a:prstGeom prst="rect">
            <a:avLst/>
          </a:prstGeom>
          <a:noFill/>
          <a:ln>
            <a:noFill/>
          </a:ln>
        </p:spPr>
        <p:txBody>
          <a:bodyPr anchor="ctr">
            <a:normAutofit/>
          </a:bodyPr>
          <a:lstStyle/>
          <a:p>
            <a:pPr>
              <a:lnSpc>
                <a:spcPct val="90000"/>
              </a:lnSpc>
            </a:pPr>
            <a:r>
              <a:rPr lang="en-US" sz="2400" b="0" strike="noStrike" spc="-202">
                <a:solidFill>
                  <a:srgbClr val="FFFFFF"/>
                </a:solidFill>
                <a:latin typeface="Arial"/>
              </a:rPr>
              <a:t> </a:t>
            </a:r>
            <a:br/>
            <a:br/>
            <a:endParaRPr lang="en-US" sz="2400" b="0" strike="noStrike" spc="-1">
              <a:solidFill>
                <a:srgbClr val="203232"/>
              </a:solidFill>
              <a:latin typeface="Arial"/>
            </a:endParaRPr>
          </a:p>
        </p:txBody>
      </p:sp>
      <p:sp>
        <p:nvSpPr>
          <p:cNvPr id="109" name="TextShape 6"/>
          <p:cNvSpPr txBox="1"/>
          <p:nvPr/>
        </p:nvSpPr>
        <p:spPr>
          <a:xfrm>
            <a:off x="7354080" y="203882"/>
            <a:ext cx="4705437" cy="1158840"/>
          </a:xfrm>
          <a:prstGeom prst="rect">
            <a:avLst/>
          </a:prstGeom>
          <a:noFill/>
          <a:ln>
            <a:noFill/>
          </a:ln>
        </p:spPr>
        <p:txBody>
          <a:bodyPr anchor="ctr">
            <a:noAutofit/>
          </a:bodyPr>
          <a:lstStyle/>
          <a:p>
            <a:pPr>
              <a:lnSpc>
                <a:spcPts val="2880"/>
              </a:lnSpc>
              <a:spcAft>
                <a:spcPts val="992"/>
              </a:spcAft>
              <a:tabLst>
                <a:tab pos="0" algn="l"/>
              </a:tabLst>
            </a:pPr>
            <a:r>
              <a:rPr lang="en-GB" sz="3000" b="1" strike="noStrike" spc="-100">
                <a:solidFill>
                  <a:srgbClr val="FFFFFF"/>
                </a:solidFill>
                <a:latin typeface="Arial"/>
              </a:rPr>
              <a:t>Our RQ asks about Differences in means/ medians </a:t>
            </a:r>
            <a:endParaRPr lang="en-US" sz="3000" b="1" strike="noStrike" spc="-1">
              <a:latin typeface="Arial"/>
            </a:endParaRPr>
          </a:p>
        </p:txBody>
      </p:sp>
      <p:sp>
        <p:nvSpPr>
          <p:cNvPr id="110" name="TextShape 7"/>
          <p:cNvSpPr txBox="1"/>
          <p:nvPr/>
        </p:nvSpPr>
        <p:spPr>
          <a:xfrm>
            <a:off x="11704320" y="6455520"/>
            <a:ext cx="447840" cy="364680"/>
          </a:xfrm>
          <a:prstGeom prst="rect">
            <a:avLst/>
          </a:prstGeom>
          <a:noFill/>
          <a:ln>
            <a:noFill/>
          </a:ln>
        </p:spPr>
        <p:txBody>
          <a:bodyPr anchor="ctr">
            <a:normAutofit/>
          </a:bodyPr>
          <a:lstStyle/>
          <a:p>
            <a:pPr algn="r">
              <a:lnSpc>
                <a:spcPct val="100000"/>
              </a:lnSpc>
              <a:spcAft>
                <a:spcPts val="601"/>
              </a:spcAft>
            </a:pPr>
            <a:fld id="{29CEFF96-2F62-4B45-8A43-FC60A0A96C7C}" type="slidenum">
              <a:rPr lang="en-US" sz="1100" b="1" strike="noStrike" spc="-1">
                <a:solidFill>
                  <a:srgbClr val="7DABAB"/>
                </a:solidFill>
                <a:latin typeface="Arial"/>
              </a:rPr>
              <a:t>5</a:t>
            </a:fld>
            <a:endParaRPr lang="en-US" sz="1100" b="0" strike="noStrike" spc="-1">
              <a:latin typeface="Times New Roman"/>
            </a:endParaRPr>
          </a:p>
        </p:txBody>
      </p:sp>
      <p:sp>
        <p:nvSpPr>
          <p:cNvPr id="111" name="CustomShape 8"/>
          <p:cNvSpPr/>
          <p:nvPr/>
        </p:nvSpPr>
        <p:spPr>
          <a:xfrm>
            <a:off x="366120" y="197640"/>
            <a:ext cx="6988320" cy="118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chor="t">
            <a:spAutoFit/>
          </a:bodyPr>
          <a:lstStyle/>
          <a:p>
            <a:r>
              <a:rPr lang="en-GB" sz="2400" b="0" strike="noStrike" spc="-1" dirty="0">
                <a:solidFill>
                  <a:srgbClr val="FFFFFF"/>
                </a:solidFill>
                <a:latin typeface="Arial"/>
              </a:rPr>
              <a:t>Here is a </a:t>
            </a:r>
            <a:r>
              <a:rPr lang="en-GB" sz="2400" b="1" strike="noStrike" spc="-1" dirty="0">
                <a:solidFill>
                  <a:srgbClr val="FFFFFF"/>
                </a:solidFill>
                <a:latin typeface="Arial"/>
              </a:rPr>
              <a:t>Histogram </a:t>
            </a:r>
            <a:r>
              <a:rPr lang="en-GB" sz="2400" b="0" strike="noStrike" spc="-1" dirty="0">
                <a:solidFill>
                  <a:srgbClr val="FFFFFF"/>
                </a:solidFill>
                <a:latin typeface="Arial"/>
              </a:rPr>
              <a:t>showing the frequencies of our dependent variable to include the normal curve overlay</a:t>
            </a:r>
            <a:r>
              <a:rPr lang="en-GB" sz="2400" spc="-1" dirty="0">
                <a:solidFill>
                  <a:srgbClr val="FFFFFF"/>
                </a:solidFill>
                <a:latin typeface="Arial"/>
              </a:rPr>
              <a:t> (shown in blue)</a:t>
            </a:r>
            <a:r>
              <a:rPr lang="en-GB" sz="1800" spc="-1" dirty="0">
                <a:solidFill>
                  <a:srgbClr val="203232"/>
                </a:solidFill>
                <a:latin typeface="Arial"/>
              </a:rPr>
              <a:t>.</a:t>
            </a:r>
            <a:endParaRPr lang="en-US" sz="1800" b="0" strike="noStrike" spc="-1" dirty="0">
              <a:latin typeface="Arial"/>
            </a:endParaRPr>
          </a:p>
        </p:txBody>
      </p:sp>
      <p:sp>
        <p:nvSpPr>
          <p:cNvPr id="112" name="CustomShape 9"/>
          <p:cNvSpPr/>
          <p:nvPr/>
        </p:nvSpPr>
        <p:spPr>
          <a:xfrm>
            <a:off x="290880" y="1627560"/>
            <a:ext cx="10865160" cy="4886280"/>
          </a:xfrm>
          <a:prstGeom prst="roundRect">
            <a:avLst>
              <a:gd name="adj" fmla="val 16667"/>
            </a:avLst>
          </a:prstGeom>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nSpc>
                <a:spcPct val="100000"/>
              </a:lnSpc>
            </a:pPr>
            <a:endParaRPr lang="en-GB" sz="1800" b="0" strike="noStrike" spc="-1" dirty="0">
              <a:latin typeface="Arial"/>
              <a:cs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a:p>
            <a:pPr>
              <a:lnSpc>
                <a:spcPct val="100000"/>
              </a:lnSpc>
            </a:pPr>
            <a:endParaRPr lang="en-US" sz="1800" b="0" strike="noStrike" spc="-1">
              <a:latin typeface="Arial"/>
            </a:endParaRPr>
          </a:p>
        </p:txBody>
      </p:sp>
      <p:sp>
        <p:nvSpPr>
          <p:cNvPr id="113" name="CustomShape 10"/>
          <p:cNvSpPr/>
          <p:nvPr/>
        </p:nvSpPr>
        <p:spPr>
          <a:xfrm>
            <a:off x="6682753" y="1999947"/>
            <a:ext cx="4475760" cy="286086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pPr>
            <a:r>
              <a:rPr lang="en-GB" sz="1800" b="0" strike="noStrike" spc="-1" dirty="0">
                <a:solidFill>
                  <a:srgbClr val="203232"/>
                </a:solidFill>
                <a:latin typeface="Arial"/>
              </a:rPr>
              <a:t>The normal curve overlay </a:t>
            </a:r>
            <a:r>
              <a:rPr lang="en-GB" sz="1800" b="1" i="1" strike="noStrike" spc="-1" dirty="0">
                <a:solidFill>
                  <a:srgbClr val="203232"/>
                </a:solidFill>
                <a:latin typeface="Arial"/>
              </a:rPr>
              <a:t>does not follow</a:t>
            </a:r>
            <a:r>
              <a:rPr lang="en-GB" sz="1800" b="0" strike="noStrike" spc="-1" dirty="0">
                <a:solidFill>
                  <a:srgbClr val="203232"/>
                </a:solidFill>
                <a:latin typeface="Arial"/>
              </a:rPr>
              <a:t> the shape of the underlying data, so we use the non-parametric test that does not assume normality: </a:t>
            </a:r>
            <a:r>
              <a:rPr lang="en-GB" sz="1800" b="0" strike="noStrike" spc="-1" dirty="0">
                <a:solidFill>
                  <a:srgbClr val="0073CF"/>
                </a:solidFill>
                <a:latin typeface="Arial"/>
              </a:rPr>
              <a:t>Wilcoxon</a:t>
            </a:r>
            <a:r>
              <a:rPr lang="en-GB" sz="1800" b="0" strike="noStrike" spc="-1" dirty="0">
                <a:solidFill>
                  <a:srgbClr val="203232"/>
                </a:solidFill>
                <a:latin typeface="Arial"/>
              </a:rPr>
              <a:t> also known as the </a:t>
            </a:r>
            <a:r>
              <a:rPr lang="en-GB" sz="1800" b="0" strike="noStrike" spc="-1" dirty="0">
                <a:solidFill>
                  <a:srgbClr val="0073CF"/>
                </a:solidFill>
                <a:latin typeface="Arial"/>
              </a:rPr>
              <a:t>Mann Whitney U Test.</a:t>
            </a:r>
            <a:endParaRPr lang="en-US" sz="1800" b="0" strike="noStrike" spc="-1" dirty="0">
              <a:latin typeface="Arial"/>
            </a:endParaRPr>
          </a:p>
          <a:p>
            <a:pPr>
              <a:lnSpc>
                <a:spcPct val="100000"/>
              </a:lnSpc>
            </a:pPr>
            <a:endParaRPr lang="en-US" sz="1800" b="0" strike="noStrike" spc="-1">
              <a:latin typeface="Arial"/>
            </a:endParaRPr>
          </a:p>
          <a:p>
            <a:pPr>
              <a:lnSpc>
                <a:spcPct val="100000"/>
              </a:lnSpc>
            </a:pPr>
            <a:r>
              <a:rPr lang="en-GB" sz="1800" b="0" strike="noStrike" spc="-1" dirty="0">
                <a:solidFill>
                  <a:srgbClr val="0073CF"/>
                </a:solidFill>
                <a:latin typeface="Arial"/>
              </a:rPr>
              <a:t>The example here is borderline, in terms of shape, so when in doubt choose the non-parametric equivalent.</a:t>
            </a:r>
            <a:endParaRPr lang="en-US" sz="1800" b="0" strike="noStrike" spc="-1" dirty="0">
              <a:latin typeface="Arial"/>
            </a:endParaRPr>
          </a:p>
          <a:p>
            <a:pPr>
              <a:lnSpc>
                <a:spcPct val="100000"/>
              </a:lnSpc>
            </a:pPr>
            <a:endParaRPr lang="en-US" sz="1800" b="0" strike="noStrike" spc="-1">
              <a:latin typeface="Arial"/>
            </a:endParaRPr>
          </a:p>
        </p:txBody>
      </p:sp>
      <p:pic>
        <p:nvPicPr>
          <p:cNvPr id="6" name="Picture 5" descr="A graph with a red line&#10;&#10;AI-generated content may be incorrect.">
            <a:extLst>
              <a:ext uri="{FF2B5EF4-FFF2-40B4-BE49-F238E27FC236}">
                <a16:creationId xmlns:a16="http://schemas.microsoft.com/office/drawing/2014/main" id="{AF070A4E-4B78-BDFB-3318-A3766DC253A5}"/>
              </a:ext>
            </a:extLst>
          </p:cNvPr>
          <p:cNvPicPr>
            <a:picLocks noChangeAspect="1"/>
          </p:cNvPicPr>
          <p:nvPr/>
        </p:nvPicPr>
        <p:blipFill>
          <a:blip r:embed="rId2"/>
          <a:stretch>
            <a:fillRect/>
          </a:stretch>
        </p:blipFill>
        <p:spPr>
          <a:xfrm>
            <a:off x="1341070" y="1639214"/>
            <a:ext cx="4102795" cy="4873929"/>
          </a:xfrm>
          <a:prstGeom prst="rect">
            <a:avLst/>
          </a:prstGeom>
        </p:spPr>
      </p:pic>
    </p:spTree>
    <p:extLst>
      <p:ext uri="{BB962C8B-B14F-4D97-AF65-F5344CB8AC3E}">
        <p14:creationId xmlns:p14="http://schemas.microsoft.com/office/powerpoint/2010/main" val="3345483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C974F-1962-2D4A-FD4C-2E0A3044710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4B5B557-7B8F-B5B4-3352-EF8CDA971C2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6</a:t>
            </a:fld>
            <a:endParaRPr lang="en-GB"/>
          </a:p>
        </p:txBody>
      </p:sp>
      <p:sp>
        <p:nvSpPr>
          <p:cNvPr id="8" name="Title 1">
            <a:extLst>
              <a:ext uri="{FF2B5EF4-FFF2-40B4-BE49-F238E27FC236}">
                <a16:creationId xmlns:a16="http://schemas.microsoft.com/office/drawing/2014/main" id="{43C1A096-E131-E8CF-6081-EEC0BBA8D09B}"/>
              </a:ext>
            </a:extLst>
          </p:cNvPr>
          <p:cNvSpPr txBox="1">
            <a:spLocks/>
          </p:cNvSpPr>
          <p:nvPr/>
        </p:nvSpPr>
        <p:spPr>
          <a:xfrm>
            <a:off x="852952" y="569974"/>
            <a:ext cx="10112417" cy="88690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200000"/>
              </a:lnSpc>
              <a:spcBef>
                <a:spcPts val="0"/>
              </a:spcBef>
              <a:spcAft>
                <a:spcPts val="0"/>
              </a:spcAft>
              <a:buClr>
                <a:srgbClr val="203232"/>
              </a:buClr>
              <a:buSzPts val="1800"/>
              <a:buFont typeface="Arial"/>
              <a:buNone/>
              <a:defRPr sz="3600" b="1" i="0" u="none" strike="noStrike" cap="none">
                <a:solidFill>
                  <a:srgbClr val="20323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200" dirty="0"/>
              <a:t>R Script and Results – The Analysis </a:t>
            </a:r>
            <a:endParaRPr lang="en-US"/>
          </a:p>
          <a:p>
            <a:endParaRPr lang="en-US" sz="2800" dirty="0"/>
          </a:p>
          <a:p>
            <a:endParaRPr lang="en-US" sz="2800" dirty="0"/>
          </a:p>
        </p:txBody>
      </p:sp>
      <p:sp>
        <p:nvSpPr>
          <p:cNvPr id="3" name="Google Shape;100;p17">
            <a:extLst>
              <a:ext uri="{FF2B5EF4-FFF2-40B4-BE49-F238E27FC236}">
                <a16:creationId xmlns:a16="http://schemas.microsoft.com/office/drawing/2014/main" id="{384D506F-40ED-A99E-98F5-C47355A4FCE6}"/>
              </a:ext>
            </a:extLst>
          </p:cNvPr>
          <p:cNvSpPr txBox="1">
            <a:spLocks noGrp="1"/>
          </p:cNvSpPr>
          <p:nvPr>
            <p:ph type="ftr" idx="11"/>
          </p:nvPr>
        </p:nvSpPr>
        <p:spPr>
          <a:xfrm>
            <a:off x="755462" y="548066"/>
            <a:ext cx="10104598" cy="242037"/>
          </a:xfrm>
          <a:prstGeom prst="rect">
            <a:avLst/>
          </a:prstGeom>
          <a:noFill/>
          <a:ln>
            <a:noFill/>
          </a:ln>
        </p:spPr>
        <p:txBody>
          <a:bodyPr spcFirstLastPara="1" wrap="square" lIns="0" tIns="0" rIns="0" bIns="0" anchor="t" anchorCtr="0">
            <a:noAutofit/>
          </a:bodyPr>
          <a:lstStyle/>
          <a:p>
            <a:r>
              <a:rPr lang="en-GB" dirty="0"/>
              <a:t>7COM1079-2025  Student Group No:    A 104    Names of Student Group Attendees: All group members</a:t>
            </a:r>
            <a:endParaRPr dirty="0"/>
          </a:p>
        </p:txBody>
      </p:sp>
      <p:sp>
        <p:nvSpPr>
          <p:cNvPr id="5" name="TextBox 4">
            <a:extLst>
              <a:ext uri="{FF2B5EF4-FFF2-40B4-BE49-F238E27FC236}">
                <a16:creationId xmlns:a16="http://schemas.microsoft.com/office/drawing/2014/main" id="{9DB9135B-77ED-809E-3646-B52EA6D874E0}"/>
              </a:ext>
            </a:extLst>
          </p:cNvPr>
          <p:cNvSpPr txBox="1"/>
          <p:nvPr/>
        </p:nvSpPr>
        <p:spPr>
          <a:xfrm>
            <a:off x="753650" y="1452457"/>
            <a:ext cx="11066988" cy="5139869"/>
          </a:xfrm>
          <a:prstGeom prst="rect">
            <a:avLst/>
          </a:prstGeom>
          <a:solidFill>
            <a:schemeClr val="bg1"/>
          </a:solidFill>
        </p:spPr>
        <p:txBody>
          <a:bodyPr wrap="square" lIns="91440" tIns="45720" rIns="91440" bIns="45720" rtlCol="0" anchor="t">
            <a:spAutoFit/>
          </a:bodyPr>
          <a:lstStyle/>
          <a:p>
            <a:r>
              <a:rPr lang="en-US" sz="2800" strike="noStrike" spc="-202" dirty="0">
                <a:solidFill>
                  <a:schemeClr val="accent1">
                    <a:lumMod val="76000"/>
                  </a:schemeClr>
                </a:solidFill>
                <a:latin typeface="Arial"/>
              </a:rPr>
              <a:t>Include a snippet of the R code you </a:t>
            </a:r>
            <a:r>
              <a:rPr lang="en-US" sz="2800" spc="-202" dirty="0">
                <a:solidFill>
                  <a:schemeClr val="accent1">
                    <a:lumMod val="76000"/>
                  </a:schemeClr>
                </a:solidFill>
              </a:rPr>
              <a:t>used</a:t>
            </a:r>
            <a:r>
              <a:rPr lang="en-US" sz="2800" strike="noStrike" spc="-202" dirty="0">
                <a:solidFill>
                  <a:schemeClr val="accent1">
                    <a:lumMod val="76000"/>
                  </a:schemeClr>
                </a:solidFill>
                <a:latin typeface="Arial"/>
              </a:rPr>
              <a:t> to calculate your test statistic.</a:t>
            </a:r>
            <a:endParaRPr lang="en-US" sz="2800" dirty="0">
              <a:solidFill>
                <a:schemeClr val="accent1">
                  <a:lumMod val="76000"/>
                </a:schemeClr>
              </a:solidFill>
            </a:endParaRPr>
          </a:p>
          <a:p>
            <a:endParaRPr lang="en-US" sz="2800" spc="-202" dirty="0">
              <a:solidFill>
                <a:schemeClr val="accent1">
                  <a:lumMod val="76000"/>
                </a:schemeClr>
              </a:solidFill>
            </a:endParaRPr>
          </a:p>
          <a:p>
            <a:r>
              <a:rPr lang="en-US" sz="2400" spc="-202" dirty="0">
                <a:solidFill>
                  <a:schemeClr val="tx1"/>
                </a:solidFill>
                <a:latin typeface="Consolas"/>
              </a:rPr>
              <a:t>subset_df &lt;- subset(df, Occupation == "Doctor" | Occupation == "Engineer")</a:t>
            </a:r>
            <a:endParaRPr lang="en-US" sz="2400">
              <a:solidFill>
                <a:schemeClr val="tx1"/>
              </a:solidFill>
              <a:latin typeface="Consolas"/>
            </a:endParaRPr>
          </a:p>
          <a:p>
            <a:r>
              <a:rPr lang="en-US" sz="2400" spc="-202" err="1">
                <a:solidFill>
                  <a:schemeClr val="tx1"/>
                </a:solidFill>
                <a:latin typeface="Consolas"/>
              </a:rPr>
              <a:t>colnames</a:t>
            </a:r>
            <a:r>
              <a:rPr lang="en-US" sz="2400" spc="-202" dirty="0">
                <a:solidFill>
                  <a:schemeClr val="tx1"/>
                </a:solidFill>
                <a:latin typeface="Consolas"/>
              </a:rPr>
              <a:t>(</a:t>
            </a:r>
            <a:r>
              <a:rPr lang="en-US" sz="2400" spc="-202" err="1">
                <a:solidFill>
                  <a:schemeClr val="tx1"/>
                </a:solidFill>
                <a:latin typeface="Consolas"/>
              </a:rPr>
              <a:t>subset_df</a:t>
            </a:r>
            <a:r>
              <a:rPr lang="en-US" sz="2400" spc="-202" dirty="0">
                <a:solidFill>
                  <a:schemeClr val="tx1"/>
                </a:solidFill>
                <a:latin typeface="Consolas"/>
              </a:rPr>
              <a:t>)[8]&lt;- "Stress"</a:t>
            </a:r>
            <a:endParaRPr lang="en-US" sz="2400">
              <a:solidFill>
                <a:schemeClr val="tx1"/>
              </a:solidFill>
              <a:latin typeface="Consolas"/>
            </a:endParaRPr>
          </a:p>
          <a:p>
            <a:r>
              <a:rPr lang="en-US" sz="2400" spc="-202" dirty="0">
                <a:solidFill>
                  <a:schemeClr val="tx1"/>
                </a:solidFill>
                <a:latin typeface="Consolas"/>
              </a:rPr>
              <a:t>wilcox.test(Stress ~ Occupation, data=subset_df)</a:t>
            </a:r>
            <a:endParaRPr lang="en-US" sz="2400">
              <a:solidFill>
                <a:schemeClr val="tx1"/>
              </a:solidFill>
              <a:latin typeface="Consolas"/>
            </a:endParaRPr>
          </a:p>
          <a:p>
            <a:endParaRPr lang="en-US" sz="2400" spc="-202" dirty="0">
              <a:solidFill>
                <a:srgbClr val="203232"/>
              </a:solidFill>
              <a:latin typeface="Consolas"/>
            </a:endParaRPr>
          </a:p>
          <a:p>
            <a:r>
              <a:rPr lang="en-US" sz="2800" strike="noStrike" spc="-202" dirty="0">
                <a:solidFill>
                  <a:schemeClr val="accent1">
                    <a:lumMod val="76000"/>
                  </a:schemeClr>
                </a:solidFill>
                <a:latin typeface="Arial"/>
              </a:rPr>
              <a:t>Give the value of the test statistic.</a:t>
            </a:r>
            <a:r>
              <a:rPr lang="en-US" sz="2800" spc="-202" dirty="0">
                <a:solidFill>
                  <a:schemeClr val="accent1">
                    <a:lumMod val="76000"/>
                  </a:schemeClr>
                </a:solidFill>
              </a:rPr>
              <a:t> </a:t>
            </a:r>
            <a:endParaRPr lang="en-US" sz="2800">
              <a:solidFill>
                <a:schemeClr val="accent1">
                  <a:lumMod val="76000"/>
                </a:schemeClr>
              </a:solidFill>
              <a:latin typeface="Consolas"/>
            </a:endParaRPr>
          </a:p>
          <a:p>
            <a:r>
              <a:rPr lang="en-US" sz="2800" spc="-202" dirty="0">
                <a:solidFill>
                  <a:schemeClr val="tx1"/>
                </a:solidFill>
                <a:latin typeface="Consolas"/>
              </a:rPr>
              <a:t>W = 4153, p-value &lt; 2.2e-16 </a:t>
            </a:r>
          </a:p>
          <a:p>
            <a:r>
              <a:rPr lang="en-US" sz="2800" spc="-202" dirty="0">
                <a:solidFill>
                  <a:schemeClr val="tx1"/>
                </a:solidFill>
                <a:latin typeface="Consolas"/>
              </a:rPr>
              <a:t>p-value is less than 0.05</a:t>
            </a:r>
            <a:endParaRPr lang="en-US" sz="2800">
              <a:solidFill>
                <a:schemeClr val="tx1"/>
              </a:solidFill>
              <a:latin typeface="Consolas"/>
            </a:endParaRPr>
          </a:p>
          <a:p>
            <a:endParaRPr lang="en-US" sz="3200" strike="noStrike" spc="-202" dirty="0">
              <a:solidFill>
                <a:srgbClr val="203232"/>
              </a:solidFill>
              <a:latin typeface="Arial"/>
            </a:endParaRPr>
          </a:p>
          <a:p>
            <a:r>
              <a:rPr lang="en-US" sz="3200" strike="noStrike" spc="-202" dirty="0">
                <a:solidFill>
                  <a:srgbClr val="203232"/>
                </a:solidFill>
                <a:latin typeface="Arial"/>
              </a:rPr>
              <a:t> </a:t>
            </a:r>
            <a:r>
              <a:rPr lang="en-US" sz="2800" strike="noStrike" spc="-202" dirty="0">
                <a:solidFill>
                  <a:schemeClr val="accent1">
                    <a:lumMod val="76000"/>
                  </a:schemeClr>
                </a:solidFill>
                <a:latin typeface="Arial"/>
              </a:rPr>
              <a:t>Is the result significant?</a:t>
            </a:r>
          </a:p>
          <a:p>
            <a:r>
              <a:rPr lang="en-US" sz="2800" spc="-202" dirty="0">
                <a:solidFill>
                  <a:schemeClr val="tx1"/>
                </a:solidFill>
                <a:latin typeface="Consolas"/>
              </a:rPr>
              <a:t>Yes, the result is significant.</a:t>
            </a:r>
            <a:endParaRPr lang="en-US" sz="2800" dirty="0">
              <a:solidFill>
                <a:schemeClr val="tx1"/>
              </a:solidFill>
            </a:endParaRPr>
          </a:p>
        </p:txBody>
      </p:sp>
    </p:spTree>
    <p:extLst>
      <p:ext uri="{BB962C8B-B14F-4D97-AF65-F5344CB8AC3E}">
        <p14:creationId xmlns:p14="http://schemas.microsoft.com/office/powerpoint/2010/main" val="3022571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5B34A-60A2-E58D-DAA9-03AF9825B9D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6915462-772E-384B-2697-A702F83BBF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pPr marL="0" lvl="0" indent="0" algn="r" rtl="0">
                <a:spcBef>
                  <a:spcPts val="0"/>
                </a:spcBef>
                <a:spcAft>
                  <a:spcPts val="0"/>
                </a:spcAft>
                <a:buNone/>
              </a:pPr>
              <a:t>7</a:t>
            </a:fld>
            <a:endParaRPr lang="en-GB"/>
          </a:p>
        </p:txBody>
      </p:sp>
      <p:sp>
        <p:nvSpPr>
          <p:cNvPr id="3" name="Google Shape;100;p17">
            <a:extLst>
              <a:ext uri="{FF2B5EF4-FFF2-40B4-BE49-F238E27FC236}">
                <a16:creationId xmlns:a16="http://schemas.microsoft.com/office/drawing/2014/main" id="{59A0393D-7C87-19FE-0476-B7570C22510F}"/>
              </a:ext>
            </a:extLst>
          </p:cNvPr>
          <p:cNvSpPr txBox="1">
            <a:spLocks noGrp="1"/>
          </p:cNvSpPr>
          <p:nvPr>
            <p:ph type="ftr" idx="11"/>
          </p:nvPr>
        </p:nvSpPr>
        <p:spPr>
          <a:xfrm>
            <a:off x="755462" y="548066"/>
            <a:ext cx="10104598" cy="242037"/>
          </a:xfrm>
          <a:prstGeom prst="rect">
            <a:avLst/>
          </a:prstGeom>
          <a:noFill/>
          <a:ln>
            <a:noFill/>
          </a:ln>
        </p:spPr>
        <p:txBody>
          <a:bodyPr spcFirstLastPara="1" wrap="square" lIns="0" tIns="0" rIns="0" bIns="0" anchor="t" anchorCtr="0">
            <a:noAutofit/>
          </a:bodyPr>
          <a:lstStyle/>
          <a:p>
            <a:r>
              <a:rPr lang="en-GB" dirty="0"/>
              <a:t>7COM1079-2025  Student Group No:    A 104    Names of Student Group Attendees: All group members</a:t>
            </a:r>
            <a:endParaRPr dirty="0"/>
          </a:p>
        </p:txBody>
      </p:sp>
      <p:sp>
        <p:nvSpPr>
          <p:cNvPr id="5" name="TextBox 4">
            <a:extLst>
              <a:ext uri="{FF2B5EF4-FFF2-40B4-BE49-F238E27FC236}">
                <a16:creationId xmlns:a16="http://schemas.microsoft.com/office/drawing/2014/main" id="{A14A084E-EEE6-FABE-FE4C-9A55D5E039F7}"/>
              </a:ext>
            </a:extLst>
          </p:cNvPr>
          <p:cNvSpPr txBox="1"/>
          <p:nvPr/>
        </p:nvSpPr>
        <p:spPr>
          <a:xfrm>
            <a:off x="757487" y="1458752"/>
            <a:ext cx="11066988" cy="5324535"/>
          </a:xfrm>
          <a:prstGeom prst="rect">
            <a:avLst/>
          </a:prstGeom>
          <a:solidFill>
            <a:schemeClr val="bg1"/>
          </a:solidFill>
        </p:spPr>
        <p:txBody>
          <a:bodyPr wrap="square" lIns="91440" tIns="45720" rIns="91440" bIns="45720" rtlCol="0" anchor="t">
            <a:spAutoFit/>
          </a:bodyPr>
          <a:lstStyle/>
          <a:p>
            <a:r>
              <a:rPr lang="en-US" sz="2800" strike="noStrike" spc="-202" dirty="0">
                <a:solidFill>
                  <a:schemeClr val="accent1">
                    <a:lumMod val="76000"/>
                  </a:schemeClr>
                </a:solidFill>
                <a:latin typeface="Arial"/>
              </a:rPr>
              <a:t>Do you ‘</a:t>
            </a:r>
            <a:r>
              <a:rPr lang="en-US" sz="2800" spc="-202" dirty="0">
                <a:solidFill>
                  <a:schemeClr val="accent1">
                    <a:lumMod val="76000"/>
                  </a:schemeClr>
                </a:solidFill>
                <a:latin typeface="Arial"/>
              </a:rPr>
              <a:t>fail to reject the null hypothesis’</a:t>
            </a:r>
            <a:r>
              <a:rPr lang="en-US" sz="2800" strike="noStrike" spc="-202" dirty="0">
                <a:solidFill>
                  <a:schemeClr val="accent1">
                    <a:lumMod val="76000"/>
                  </a:schemeClr>
                </a:solidFill>
                <a:latin typeface="Arial"/>
              </a:rPr>
              <a:t> or ‘reject the null hypothesis’?</a:t>
            </a:r>
            <a:endParaRPr lang="en-US" sz="2800" spc="-202" dirty="0">
              <a:solidFill>
                <a:schemeClr val="accent1">
                  <a:lumMod val="76000"/>
                </a:schemeClr>
              </a:solidFill>
            </a:endParaRPr>
          </a:p>
          <a:p>
            <a:r>
              <a:rPr lang="en-US" sz="2800" spc="-202" dirty="0">
                <a:solidFill>
                  <a:schemeClr val="tx1"/>
                </a:solidFill>
                <a:latin typeface="Consolas"/>
              </a:rPr>
              <a:t>There is a difference in the median stress level between doctors and engineers, so we reject the null hypothesis.</a:t>
            </a:r>
          </a:p>
          <a:p>
            <a:endParaRPr lang="en-US" sz="3200" spc="-202" dirty="0">
              <a:solidFill>
                <a:schemeClr val="accent1">
                  <a:lumMod val="76000"/>
                </a:schemeClr>
              </a:solidFill>
            </a:endParaRPr>
          </a:p>
          <a:p>
            <a:r>
              <a:rPr lang="en-US" sz="2800" spc="-202" dirty="0">
                <a:solidFill>
                  <a:schemeClr val="accent1">
                    <a:lumMod val="76000"/>
                  </a:schemeClr>
                </a:solidFill>
                <a:latin typeface="Arial"/>
              </a:rPr>
              <a:t>What does the result actually mean in the wider context of learning something useful / answering your RQ?</a:t>
            </a:r>
          </a:p>
          <a:p>
            <a:r>
              <a:rPr lang="en-US" sz="2800" spc="-202" dirty="0">
                <a:solidFill>
                  <a:schemeClr val="tx1"/>
                </a:solidFill>
                <a:latin typeface="Consolas"/>
              </a:rPr>
              <a:t>Doctors and engineers in the 27 to 59 age group do not face the same stress levels. The difference is statistically significant, with doctors facing higher stress levels. Doctors bear the responsibility of decisions that affect human lives and often need to be ready for emergencies whereas engineers rarely face high pressure life-or-death situations.</a:t>
            </a:r>
          </a:p>
        </p:txBody>
      </p:sp>
      <p:sp>
        <p:nvSpPr>
          <p:cNvPr id="6" name="Title 1">
            <a:extLst>
              <a:ext uri="{FF2B5EF4-FFF2-40B4-BE49-F238E27FC236}">
                <a16:creationId xmlns:a16="http://schemas.microsoft.com/office/drawing/2014/main" id="{E2EEDBBF-9CF9-68DD-7476-CF0255C90267}"/>
              </a:ext>
            </a:extLst>
          </p:cNvPr>
          <p:cNvSpPr txBox="1">
            <a:spLocks/>
          </p:cNvSpPr>
          <p:nvPr/>
        </p:nvSpPr>
        <p:spPr>
          <a:xfrm>
            <a:off x="852952" y="569974"/>
            <a:ext cx="10112417" cy="886907"/>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200000"/>
              </a:lnSpc>
              <a:spcBef>
                <a:spcPts val="0"/>
              </a:spcBef>
              <a:spcAft>
                <a:spcPts val="0"/>
              </a:spcAft>
              <a:buClr>
                <a:srgbClr val="203232"/>
              </a:buClr>
              <a:buSzPts val="1800"/>
              <a:buFont typeface="Arial"/>
              <a:buNone/>
              <a:defRPr sz="3600" b="1" i="0" u="none" strike="noStrike" cap="none">
                <a:solidFill>
                  <a:srgbClr val="20323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sz="3200" dirty="0"/>
              <a:t>R Script </a:t>
            </a:r>
            <a:r>
              <a:rPr lang="en-US" sz="3200" dirty="0">
                <a:solidFill>
                  <a:schemeClr val="tx1"/>
                </a:solidFill>
              </a:rPr>
              <a:t>and Results –</a:t>
            </a:r>
            <a:r>
              <a:rPr lang="en-US" sz="3200" dirty="0"/>
              <a:t> The Analysis </a:t>
            </a:r>
            <a:endParaRPr lang="en-US" dirty="0"/>
          </a:p>
        </p:txBody>
      </p:sp>
    </p:spTree>
    <p:extLst>
      <p:ext uri="{BB962C8B-B14F-4D97-AF65-F5344CB8AC3E}">
        <p14:creationId xmlns:p14="http://schemas.microsoft.com/office/powerpoint/2010/main" val="274318596"/>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296</Words>
  <Application>Microsoft Office PowerPoint</Application>
  <PresentationFormat>Widescreen</PresentationFormat>
  <Paragraphs>100</Paragraphs>
  <Slides>7</Slides>
  <Notes>2</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Herts Theme</vt:lpstr>
      <vt:lpstr>Visualization and Analysis –  Tutorial Presentation for Feedback Date: 08-12-2025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Visualization and Analysis –  Tutorial Presentation for Feedback Date:</dc:title>
  <dc:creator>Leemah Ayo</dc:creator>
  <cp:lastModifiedBy>Owner01</cp:lastModifiedBy>
  <cp:revision>425</cp:revision>
  <dcterms:modified xsi:type="dcterms:W3CDTF">2025-12-08T13:40:28Z</dcterms:modified>
</cp:coreProperties>
</file>