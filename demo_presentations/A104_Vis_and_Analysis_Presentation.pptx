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2" r:id="rId1"/>
  </p:sldMasterIdLst>
  <p:notesMasterIdLst>
    <p:notesMasterId r:id="rId7"/>
  </p:notesMasterIdLst>
  <p:sldIdLst>
    <p:sldId id="256" r:id="rId2"/>
    <p:sldId id="257" r:id="rId3"/>
    <p:sldId id="259" r:id="rId4"/>
    <p:sldId id="260" r:id="rId5"/>
    <p:sldId id="261" r:id="rId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orient="horz" pos="3249">
          <p15:clr>
            <a:srgbClr val="A4A3A4"/>
          </p15:clr>
        </p15:guide>
        <p15:guide id="4" pos="7068">
          <p15:clr>
            <a:srgbClr val="A4A3A4"/>
          </p15:clr>
        </p15:guide>
        <p15:guide id="5" orient="horz" pos="13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113BB5-92DE-F6DC-4EA1-D00DAA6C4FCA}" v="238" dt="2025-12-01T12:25:03.1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-666" y="-90"/>
      </p:cViewPr>
      <p:guideLst>
        <p:guide orient="horz" pos="2160"/>
        <p:guide pos="3840"/>
        <p:guide orient="horz" pos="3249"/>
        <p:guide pos="7068"/>
        <p:guide orient="horz" pos="13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" name="Google Shape;9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page">
  <p:cSld name="Title page">
    <p:bg>
      <p:bgPr>
        <a:solidFill>
          <a:schemeClr val="lt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954000" y="1890000"/>
            <a:ext cx="720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None/>
              <a:defRPr sz="3600" b="1">
                <a:solidFill>
                  <a:schemeClr val="dk2"/>
                </a:solidFill>
              </a:defRPr>
            </a:lvl1pPr>
            <a:lvl2pPr lvl="1" algn="ctr">
              <a:lnSpc>
                <a:spcPct val="144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000"/>
              <a:buNone/>
              <a:defRPr sz="2000"/>
            </a:lvl2pPr>
            <a:lvl3pPr lvl="2" algn="ctr">
              <a:lnSpc>
                <a:spcPct val="16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1800"/>
              <a:buNone/>
              <a:defRPr sz="1800"/>
            </a:lvl3pPr>
            <a:lvl4pPr lvl="3" algn="ctr">
              <a:lnSpc>
                <a:spcPct val="135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1600"/>
              <a:buNone/>
              <a:defRPr sz="1600"/>
            </a:lvl4pPr>
            <a:lvl5pPr lvl="4"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ftr" idx="11"/>
          </p:nvPr>
        </p:nvSpPr>
        <p:spPr>
          <a:xfrm>
            <a:off x="965289" y="791022"/>
            <a:ext cx="7176911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F989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ldNum" idx="12"/>
          </p:nvPr>
        </p:nvSpPr>
        <p:spPr>
          <a:xfrm>
            <a:off x="10616400" y="791022"/>
            <a:ext cx="6228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500" b="1" i="0" u="none" strike="noStrike" cap="none">
                <a:solidFill>
                  <a:srgbClr val="8F989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500" b="1" i="0" u="none" strike="noStrike" cap="none">
                <a:solidFill>
                  <a:srgbClr val="8F989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500" b="1" i="0" u="none" strike="noStrike" cap="none">
                <a:solidFill>
                  <a:srgbClr val="8F989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500" b="1" i="0" u="none" strike="noStrike" cap="none">
                <a:solidFill>
                  <a:srgbClr val="8F989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500" b="1" i="0" u="none" strike="noStrike" cap="none">
                <a:solidFill>
                  <a:srgbClr val="8F989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500" b="1" i="0" u="none" strike="noStrike" cap="none">
                <a:solidFill>
                  <a:srgbClr val="8F989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500" b="1" i="0" u="none" strike="noStrike" cap="none">
                <a:solidFill>
                  <a:srgbClr val="8F989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500" b="1" i="0" u="none" strike="noStrike" cap="none">
                <a:solidFill>
                  <a:srgbClr val="8F989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500" b="1" i="0" u="none" strike="noStrike" cap="none">
                <a:solidFill>
                  <a:srgbClr val="8F989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ctrTitle"/>
          </p:nvPr>
        </p:nvSpPr>
        <p:spPr>
          <a:xfrm>
            <a:off x="953999" y="2579715"/>
            <a:ext cx="10031157" cy="2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6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500"/>
              <a:buFont typeface="Arial"/>
              <a:buNone/>
              <a:defRPr sz="75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" name="Google Shape;20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53998" y="5517266"/>
            <a:ext cx="2244881" cy="3969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bg>
      <p:bgPr>
        <a:solidFill>
          <a:schemeClr val="lt1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954000" y="1890000"/>
            <a:ext cx="102791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970139" y="2717600"/>
            <a:ext cx="10251722" cy="317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2400"/>
              <a:buNone/>
              <a:defRPr b="0">
                <a:solidFill>
                  <a:srgbClr val="203232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None/>
              <a:defRPr/>
            </a:lvl2pPr>
            <a:lvl3pPr marL="1371600" lvl="2" indent="-3810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Char char="■"/>
              <a:defRPr/>
            </a:lvl3pPr>
            <a:lvl4pPr marL="1828800" lvl="3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1800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>
                <a:solidFill>
                  <a:schemeClr val="accent4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ftr" idx="11"/>
          </p:nvPr>
        </p:nvSpPr>
        <p:spPr>
          <a:xfrm>
            <a:off x="970139" y="775255"/>
            <a:ext cx="7176911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sldNum" idx="12"/>
          </p:nvPr>
        </p:nvSpPr>
        <p:spPr>
          <a:xfrm>
            <a:off x="9821333" y="783355"/>
            <a:ext cx="1400528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26" name="Google Shape;26;p3"/>
          <p:cNvSpPr/>
          <p:nvPr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divider" type="title">
  <p:cSld name="TITLE">
    <p:bg>
      <p:bgPr>
        <a:solidFill>
          <a:schemeClr val="accent1"/>
        </a:soli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ctrTitle"/>
          </p:nvPr>
        </p:nvSpPr>
        <p:spPr>
          <a:xfrm>
            <a:off x="953999" y="2579715"/>
            <a:ext cx="10031157" cy="2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6666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Font typeface="Arial"/>
              <a:buNone/>
              <a:defRPr sz="75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subTitle" idx="1"/>
          </p:nvPr>
        </p:nvSpPr>
        <p:spPr>
          <a:xfrm>
            <a:off x="954000" y="1890000"/>
            <a:ext cx="10031156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1pPr>
            <a:lvl2pPr lvl="1" algn="ctr">
              <a:lnSpc>
                <a:spcPct val="144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000"/>
              <a:buNone/>
              <a:defRPr sz="2000"/>
            </a:lvl2pPr>
            <a:lvl3pPr lvl="2" algn="ctr">
              <a:lnSpc>
                <a:spcPct val="16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1800"/>
              <a:buNone/>
              <a:defRPr sz="1800"/>
            </a:lvl3pPr>
            <a:lvl4pPr lvl="3" algn="ctr">
              <a:lnSpc>
                <a:spcPct val="135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1600"/>
              <a:buNone/>
              <a:defRPr sz="1600"/>
            </a:lvl4pPr>
            <a:lvl5pPr lvl="4"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ftr" idx="11"/>
          </p:nvPr>
        </p:nvSpPr>
        <p:spPr>
          <a:xfrm>
            <a:off x="965289" y="779733"/>
            <a:ext cx="7176911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sldNum" idx="12"/>
          </p:nvPr>
        </p:nvSpPr>
        <p:spPr>
          <a:xfrm>
            <a:off x="10616400" y="779733"/>
            <a:ext cx="6228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pic>
        <p:nvPicPr>
          <p:cNvPr id="32" name="Google Shape;32;p4" descr="A picture containing drawing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54000" y="5511600"/>
            <a:ext cx="2242800" cy="3979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">
  <p:cSld name="Cov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6" descr="University of Hertfordshire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44000" y="2854800"/>
            <a:ext cx="6501600" cy="11536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ntent" type="twoObj">
  <p:cSld name="TWO_OBJECTS">
    <p:bg>
      <p:bgPr>
        <a:solidFill>
          <a:schemeClr val="lt1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954000" y="1890000"/>
            <a:ext cx="102791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973668" y="2717444"/>
            <a:ext cx="4903200" cy="317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2400"/>
              <a:buNone/>
              <a:defRPr b="0">
                <a:solidFill>
                  <a:srgbClr val="203232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None/>
              <a:defRPr/>
            </a:lvl2pPr>
            <a:lvl3pPr marL="1371600" lvl="2" indent="-3810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Char char="■"/>
              <a:defRPr/>
            </a:lvl3pPr>
            <a:lvl4pPr marL="1828800" lvl="3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1800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>
                <a:solidFill>
                  <a:schemeClr val="accent4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6336000" y="2717444"/>
            <a:ext cx="4456800" cy="317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2400"/>
              <a:buFont typeface="Arial"/>
              <a:buNone/>
              <a:defRPr b="0">
                <a:solidFill>
                  <a:srgbClr val="203232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None/>
              <a:defRPr/>
            </a:lvl2pPr>
            <a:lvl3pPr marL="1371600" lvl="2" indent="-3810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Char char="■"/>
              <a:defRPr/>
            </a:lvl3pPr>
            <a:lvl4pPr marL="1828800" lvl="3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1800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>
                <a:solidFill>
                  <a:schemeClr val="accent4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ftr" idx="11"/>
          </p:nvPr>
        </p:nvSpPr>
        <p:spPr>
          <a:xfrm>
            <a:off x="970139" y="775255"/>
            <a:ext cx="7176911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sldNum" idx="12"/>
          </p:nvPr>
        </p:nvSpPr>
        <p:spPr>
          <a:xfrm>
            <a:off x="9821333" y="783355"/>
            <a:ext cx="1400528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42" name="Google Shape;42;p7"/>
          <p:cNvSpPr/>
          <p:nvPr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6805">
          <p15:clr>
            <a:srgbClr val="FBAE40"/>
          </p15:clr>
        </p15:guide>
        <p15:guide id="2" pos="3989">
          <p15:clr>
            <a:srgbClr val="FBAE40"/>
          </p15:clr>
        </p15:guide>
        <p15:guide id="3" pos="3705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Large">
  <p:cSld name="Title and Content Large">
    <p:bg>
      <p:bgPr>
        <a:solidFill>
          <a:schemeClr val="lt1"/>
        </a:solid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8"/>
          <p:cNvSpPr txBox="1">
            <a:spLocks noGrp="1"/>
          </p:cNvSpPr>
          <p:nvPr>
            <p:ph type="title"/>
          </p:nvPr>
        </p:nvSpPr>
        <p:spPr>
          <a:xfrm>
            <a:off x="954000" y="775255"/>
            <a:ext cx="736156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1"/>
          </p:nvPr>
        </p:nvSpPr>
        <p:spPr>
          <a:xfrm>
            <a:off x="970139" y="1367692"/>
            <a:ext cx="10251722" cy="49236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2400"/>
              <a:buNone/>
              <a:defRPr b="0">
                <a:solidFill>
                  <a:srgbClr val="203232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None/>
              <a:defRPr/>
            </a:lvl2pPr>
            <a:lvl3pPr marL="1371600" lvl="2" indent="-3810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Char char="■"/>
              <a:defRPr/>
            </a:lvl3pPr>
            <a:lvl4pPr marL="1828800" lvl="3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1800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>
                <a:solidFill>
                  <a:schemeClr val="accent4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sldNum" idx="12"/>
          </p:nvPr>
        </p:nvSpPr>
        <p:spPr>
          <a:xfrm>
            <a:off x="9821333" y="783355"/>
            <a:ext cx="1400528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47" name="Google Shape;47;p8"/>
          <p:cNvSpPr/>
          <p:nvPr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Large blue">
  <p:cSld name="Title and Content Large blue">
    <p:bg>
      <p:bgPr>
        <a:solidFill>
          <a:schemeClr val="accent1"/>
        </a:solid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>
            <a:spLocks noGrp="1"/>
          </p:cNvSpPr>
          <p:nvPr>
            <p:ph type="sldNum" idx="12"/>
          </p:nvPr>
        </p:nvSpPr>
        <p:spPr>
          <a:xfrm>
            <a:off x="9821333" y="783355"/>
            <a:ext cx="1400528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1"/>
          </p:nvPr>
        </p:nvSpPr>
        <p:spPr>
          <a:xfrm>
            <a:off x="970139" y="1367692"/>
            <a:ext cx="10251722" cy="49236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>
                <a:solidFill>
                  <a:schemeClr val="lt1"/>
                </a:solidFill>
              </a:defRPr>
            </a:lvl2pPr>
            <a:lvl3pPr marL="1371600" lvl="2" indent="-3810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chemeClr val="lt1"/>
              </a:buClr>
              <a:buSzPts val="2400"/>
              <a:buChar char="■"/>
              <a:defRPr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954000" y="775255"/>
            <a:ext cx="736156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Image + Content">
  <p:cSld name="Title + Image + Content">
    <p:bg>
      <p:bgPr>
        <a:solidFill>
          <a:schemeClr val="lt1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>
            <a:spLocks noGrp="1"/>
          </p:cNvSpPr>
          <p:nvPr>
            <p:ph type="title"/>
          </p:nvPr>
        </p:nvSpPr>
        <p:spPr>
          <a:xfrm>
            <a:off x="954000" y="1890000"/>
            <a:ext cx="102791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0"/>
          <p:cNvSpPr txBox="1">
            <a:spLocks noGrp="1"/>
          </p:cNvSpPr>
          <p:nvPr>
            <p:ph type="body" idx="1"/>
          </p:nvPr>
        </p:nvSpPr>
        <p:spPr>
          <a:xfrm>
            <a:off x="7835952" y="2728800"/>
            <a:ext cx="2959200" cy="316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2400"/>
              <a:buNone/>
              <a:defRPr b="0">
                <a:solidFill>
                  <a:srgbClr val="203232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None/>
              <a:defRPr/>
            </a:lvl2pPr>
            <a:lvl3pPr marL="1371600" lvl="2" indent="-3810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Char char="■"/>
              <a:defRPr/>
            </a:lvl3pPr>
            <a:lvl4pPr marL="1828800" lvl="3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1800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>
                <a:solidFill>
                  <a:schemeClr val="accent4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10"/>
          <p:cNvSpPr txBox="1">
            <a:spLocks noGrp="1"/>
          </p:cNvSpPr>
          <p:nvPr>
            <p:ph type="ftr" idx="11"/>
          </p:nvPr>
        </p:nvSpPr>
        <p:spPr>
          <a:xfrm>
            <a:off x="970139" y="775255"/>
            <a:ext cx="7176911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sldNum" idx="12"/>
          </p:nvPr>
        </p:nvSpPr>
        <p:spPr>
          <a:xfrm>
            <a:off x="9821333" y="783355"/>
            <a:ext cx="1400528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954088" y="2728913"/>
            <a:ext cx="6400800" cy="4129087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/>
          <p:nvPr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Content + 2 Images">
  <p:cSld name="Title + Content + 2 Images">
    <p:bg>
      <p:bgPr>
        <a:solidFill>
          <a:schemeClr val="lt1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/>
          </p:nvPr>
        </p:nvSpPr>
        <p:spPr>
          <a:xfrm>
            <a:off x="954000" y="1890000"/>
            <a:ext cx="102791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ftr" idx="11"/>
          </p:nvPr>
        </p:nvSpPr>
        <p:spPr>
          <a:xfrm>
            <a:off x="970139" y="775255"/>
            <a:ext cx="7176911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1"/>
          <p:cNvSpPr txBox="1">
            <a:spLocks noGrp="1"/>
          </p:cNvSpPr>
          <p:nvPr>
            <p:ph type="sldNum" idx="12"/>
          </p:nvPr>
        </p:nvSpPr>
        <p:spPr>
          <a:xfrm>
            <a:off x="9821333" y="783355"/>
            <a:ext cx="1400528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63" name="Google Shape;63;p11"/>
          <p:cNvSpPr/>
          <p:nvPr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953999" y="2728800"/>
            <a:ext cx="2959199" cy="316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2400"/>
              <a:buNone/>
              <a:defRPr b="0">
                <a:solidFill>
                  <a:srgbClr val="203232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None/>
              <a:defRPr/>
            </a:lvl2pPr>
            <a:lvl3pPr marL="1371600" lvl="2" indent="-3810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Char char="■"/>
              <a:defRPr/>
            </a:lvl3pPr>
            <a:lvl4pPr marL="1828800" lvl="3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1800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>
                <a:solidFill>
                  <a:schemeClr val="accent4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body" idx="2"/>
          </p:nvPr>
        </p:nvSpPr>
        <p:spPr>
          <a:xfrm>
            <a:off x="8278804" y="2728800"/>
            <a:ext cx="2959199" cy="316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2400"/>
              <a:buNone/>
              <a:defRPr b="0">
                <a:solidFill>
                  <a:srgbClr val="203232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None/>
              <a:defRPr/>
            </a:lvl2pPr>
            <a:lvl3pPr marL="1371600" lvl="2" indent="-3810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Char char="■"/>
              <a:defRPr/>
            </a:lvl3pPr>
            <a:lvl4pPr marL="1828800" lvl="3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1800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>
                <a:solidFill>
                  <a:schemeClr val="accent4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body" idx="3"/>
          </p:nvPr>
        </p:nvSpPr>
        <p:spPr>
          <a:xfrm>
            <a:off x="4613975" y="2728800"/>
            <a:ext cx="2959199" cy="316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2400"/>
              <a:buNone/>
              <a:defRPr b="0">
                <a:solidFill>
                  <a:srgbClr val="203232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None/>
              <a:defRPr/>
            </a:lvl2pPr>
            <a:lvl3pPr marL="1371600" lvl="2" indent="-3810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Char char="■"/>
              <a:defRPr/>
            </a:lvl3pPr>
            <a:lvl4pPr marL="1828800" lvl="3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1800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>
                <a:solidFill>
                  <a:schemeClr val="accent4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ull Bleed Image">
  <p:cSld name="Full Bleed Image">
    <p:bg>
      <p:bgPr>
        <a:solidFill>
          <a:schemeClr val="accent1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2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Video">
  <p:cSld name="1_Video">
    <p:bg>
      <p:bgPr>
        <a:solidFill>
          <a:schemeClr val="accent1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3"/>
          <p:cNvSpPr>
            <a:spLocks noGrp="1"/>
          </p:cNvSpPr>
          <p:nvPr>
            <p:ph type="media" idx="2"/>
          </p:nvPr>
        </p:nvSpPr>
        <p:spPr>
          <a:xfrm>
            <a:off x="140400" y="140400"/>
            <a:ext cx="11916000" cy="6580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20323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20323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Font typeface="Arial"/>
              <a:buChar char="■"/>
              <a:defRPr sz="2400" b="0" i="0" u="none" strike="noStrike" cap="none">
                <a:solidFill>
                  <a:srgbClr val="20323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20323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20323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Icons and text">
  <p:cSld name="Icons and text">
    <p:bg>
      <p:bgPr>
        <a:solidFill>
          <a:schemeClr val="lt1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>
            <a:spLocks noGrp="1"/>
          </p:cNvSpPr>
          <p:nvPr>
            <p:ph type="ftr" idx="11"/>
          </p:nvPr>
        </p:nvSpPr>
        <p:spPr>
          <a:xfrm>
            <a:off x="970139" y="775255"/>
            <a:ext cx="7176911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4"/>
          <p:cNvSpPr txBox="1">
            <a:spLocks noGrp="1"/>
          </p:cNvSpPr>
          <p:nvPr>
            <p:ph type="sldNum" idx="12"/>
          </p:nvPr>
        </p:nvSpPr>
        <p:spPr>
          <a:xfrm>
            <a:off x="9821333" y="783355"/>
            <a:ext cx="1400528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74" name="Google Shape;74;p14"/>
          <p:cNvSpPr/>
          <p:nvPr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14"/>
          <p:cNvSpPr txBox="1">
            <a:spLocks noGrp="1"/>
          </p:cNvSpPr>
          <p:nvPr>
            <p:ph type="body" idx="1"/>
          </p:nvPr>
        </p:nvSpPr>
        <p:spPr>
          <a:xfrm>
            <a:off x="970139" y="4079342"/>
            <a:ext cx="3144661" cy="2252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2400"/>
              <a:buNone/>
              <a:defRPr b="0">
                <a:solidFill>
                  <a:srgbClr val="203232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None/>
              <a:defRPr/>
            </a:lvl2pPr>
            <a:lvl3pPr marL="1371600" lvl="2" indent="-3810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Char char="■"/>
              <a:defRPr/>
            </a:lvl3pPr>
            <a:lvl4pPr marL="1828800" lvl="3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1800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>
                <a:solidFill>
                  <a:schemeClr val="accent4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body" idx="2"/>
          </p:nvPr>
        </p:nvSpPr>
        <p:spPr>
          <a:xfrm>
            <a:off x="8077200" y="4062209"/>
            <a:ext cx="3144661" cy="2252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2400"/>
              <a:buFont typeface="Arial"/>
              <a:buNone/>
              <a:defRPr b="0">
                <a:solidFill>
                  <a:srgbClr val="203232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None/>
              <a:defRPr/>
            </a:lvl2pPr>
            <a:lvl3pPr marL="1371600" lvl="2" indent="-3810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Char char="■"/>
              <a:defRPr/>
            </a:lvl3pPr>
            <a:lvl4pPr marL="1828800" lvl="3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1800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>
                <a:solidFill>
                  <a:schemeClr val="accent4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body" idx="3"/>
          </p:nvPr>
        </p:nvSpPr>
        <p:spPr>
          <a:xfrm>
            <a:off x="4523669" y="4062209"/>
            <a:ext cx="3144661" cy="2252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2400"/>
              <a:buFont typeface="Arial"/>
              <a:buNone/>
              <a:defRPr b="0">
                <a:solidFill>
                  <a:srgbClr val="203232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None/>
              <a:defRPr/>
            </a:lvl2pPr>
            <a:lvl3pPr marL="1371600" lvl="2" indent="-3810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Char char="■"/>
              <a:defRPr/>
            </a:lvl3pPr>
            <a:lvl4pPr marL="1828800" lvl="3" indent="-228600" algn="l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1800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None/>
              <a:defRPr>
                <a:solidFill>
                  <a:schemeClr val="accent4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14"/>
          <p:cNvSpPr>
            <a:spLocks noGrp="1"/>
          </p:cNvSpPr>
          <p:nvPr>
            <p:ph type="pic" idx="4"/>
          </p:nvPr>
        </p:nvSpPr>
        <p:spPr>
          <a:xfrm>
            <a:off x="1462175" y="1640942"/>
            <a:ext cx="2160587" cy="2160588"/>
          </a:xfrm>
          <a:prstGeom prst="rect">
            <a:avLst/>
          </a:prstGeom>
          <a:noFill/>
          <a:ln>
            <a:noFill/>
          </a:ln>
        </p:spPr>
      </p:sp>
      <p:sp>
        <p:nvSpPr>
          <p:cNvPr id="79" name="Google Shape;79;p14"/>
          <p:cNvSpPr>
            <a:spLocks noGrp="1"/>
          </p:cNvSpPr>
          <p:nvPr>
            <p:ph type="pic" idx="5"/>
          </p:nvPr>
        </p:nvSpPr>
        <p:spPr>
          <a:xfrm>
            <a:off x="5015705" y="1640942"/>
            <a:ext cx="2160587" cy="2160588"/>
          </a:xfrm>
          <a:prstGeom prst="rect">
            <a:avLst/>
          </a:prstGeom>
          <a:noFill/>
          <a:ln>
            <a:noFill/>
          </a:ln>
        </p:spPr>
      </p:sp>
      <p:sp>
        <p:nvSpPr>
          <p:cNvPr id="80" name="Google Shape;80;p14"/>
          <p:cNvSpPr>
            <a:spLocks noGrp="1"/>
          </p:cNvSpPr>
          <p:nvPr>
            <p:ph type="pic" idx="6"/>
          </p:nvPr>
        </p:nvSpPr>
        <p:spPr>
          <a:xfrm>
            <a:off x="8569236" y="1640942"/>
            <a:ext cx="2160587" cy="2160588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d page">
  <p:cSld name="End page">
    <p:bg>
      <p:bgPr>
        <a:solidFill>
          <a:schemeClr val="accent1"/>
        </a:solid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54002" y="5511600"/>
            <a:ext cx="2242795" cy="397958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5"/>
          <p:cNvSpPr txBox="1">
            <a:spLocks noGrp="1"/>
          </p:cNvSpPr>
          <p:nvPr>
            <p:ph type="ctrTitle"/>
          </p:nvPr>
        </p:nvSpPr>
        <p:spPr>
          <a:xfrm>
            <a:off x="926844" y="1964352"/>
            <a:ext cx="11828559" cy="105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386"/>
              <a:buFont typeface="Arial"/>
              <a:buNone/>
              <a:defRPr sz="7386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5"/>
          <p:cNvSpPr txBox="1">
            <a:spLocks noGrp="1"/>
          </p:cNvSpPr>
          <p:nvPr>
            <p:ph type="ftr" idx="11"/>
          </p:nvPr>
        </p:nvSpPr>
        <p:spPr>
          <a:xfrm>
            <a:off x="965289" y="779733"/>
            <a:ext cx="7176911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5"/>
          <p:cNvSpPr txBox="1">
            <a:spLocks noGrp="1"/>
          </p:cNvSpPr>
          <p:nvPr>
            <p:ph type="sldNum" idx="12"/>
          </p:nvPr>
        </p:nvSpPr>
        <p:spPr>
          <a:xfrm>
            <a:off x="10616400" y="779733"/>
            <a:ext cx="6228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5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954000" y="1890000"/>
            <a:ext cx="102791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0323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970139" y="2717600"/>
            <a:ext cx="10279150" cy="317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20323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20323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1000" algn="l" rtl="0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2400"/>
              <a:buFont typeface="Arial"/>
              <a:buChar char="■"/>
              <a:defRPr sz="2400" b="0" i="0" u="none" strike="noStrike" cap="none">
                <a:solidFill>
                  <a:srgbClr val="20323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20323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20323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20323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ftr" idx="11"/>
          </p:nvPr>
        </p:nvSpPr>
        <p:spPr>
          <a:xfrm>
            <a:off x="970139" y="775255"/>
            <a:ext cx="7176911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500" b="0" i="0" u="none" strike="noStrike" cap="none">
                <a:solidFill>
                  <a:srgbClr val="8A8D8D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sldNum" idx="12"/>
          </p:nvPr>
        </p:nvSpPr>
        <p:spPr>
          <a:xfrm>
            <a:off x="9821333" y="783355"/>
            <a:ext cx="1400528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 rtl="0">
              <a:spcBef>
                <a:spcPts val="0"/>
              </a:spcBef>
              <a:buNone/>
              <a:defRPr sz="1500" b="1" i="0" u="none" strike="noStrike" cap="none">
                <a:solidFill>
                  <a:srgbClr val="8A8D8D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500" b="1" i="0" u="none" strike="noStrike" cap="none">
                <a:solidFill>
                  <a:srgbClr val="8A8D8D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500" b="1" i="0" u="none" strike="noStrike" cap="none">
                <a:solidFill>
                  <a:srgbClr val="8A8D8D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500" b="1" i="0" u="none" strike="noStrike" cap="none">
                <a:solidFill>
                  <a:srgbClr val="8A8D8D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500" b="1" i="0" u="none" strike="noStrike" cap="none">
                <a:solidFill>
                  <a:srgbClr val="8A8D8D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500" b="1" i="0" u="none" strike="noStrike" cap="none">
                <a:solidFill>
                  <a:srgbClr val="8A8D8D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500" b="1" i="0" u="none" strike="noStrike" cap="none">
                <a:solidFill>
                  <a:srgbClr val="8A8D8D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500" b="1" i="0" u="none" strike="noStrike" cap="none">
                <a:solidFill>
                  <a:srgbClr val="8A8D8D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500" b="1" i="0" u="none" strike="noStrike" cap="none">
                <a:solidFill>
                  <a:srgbClr val="8A8D8D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pos="604">
          <p15:clr>
            <a:srgbClr val="F26B43"/>
          </p15:clr>
        </p15:guide>
        <p15:guide id="3" pos="7076">
          <p15:clr>
            <a:srgbClr val="F26B43"/>
          </p15:clr>
        </p15:guide>
        <p15:guide id="4" orient="horz" pos="2160">
          <p15:clr>
            <a:srgbClr val="F26B43"/>
          </p15:clr>
        </p15:guide>
        <p15:guide id="5" orient="horz">
          <p15:clr>
            <a:srgbClr val="F26B43"/>
          </p15:clr>
        </p15:guide>
        <p15:guide id="6" orient="horz" pos="604">
          <p15:clr>
            <a:srgbClr val="F26B43"/>
          </p15:clr>
        </p15:guide>
        <p15:guide id="7" orient="horz" pos="3712">
          <p15:clr>
            <a:srgbClr val="F26B43"/>
          </p15:clr>
        </p15:guide>
        <p15:guide id="8" orient="horz" pos="11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6"/>
          <p:cNvSpPr txBox="1">
            <a:spLocks noGrp="1"/>
          </p:cNvSpPr>
          <p:nvPr>
            <p:ph type="ctrTitle"/>
          </p:nvPr>
        </p:nvSpPr>
        <p:spPr>
          <a:xfrm>
            <a:off x="953999" y="2467656"/>
            <a:ext cx="10031157" cy="2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None/>
            </a:pPr>
            <a:r>
              <a:rPr lang="en-GB" dirty="0"/>
              <a:t>Visualization and Analysis – </a:t>
            </a:r>
            <a:br>
              <a:rPr lang="en-GB" dirty="0"/>
            </a:br>
            <a:r>
              <a:rPr lang="en-GB" sz="4000" dirty="0"/>
              <a:t>Tutorial Presentation for Feedback</a:t>
            </a:r>
            <a:br>
              <a:rPr lang="en-GB" sz="4000" dirty="0"/>
            </a:br>
            <a:r>
              <a:rPr lang="en-GB" sz="2200" dirty="0"/>
              <a:t>Date: 01-12-2025</a:t>
            </a:r>
            <a:br>
              <a:rPr lang="en-GB" sz="8000" dirty="0"/>
            </a:br>
            <a:endParaRPr/>
          </a:p>
        </p:txBody>
      </p:sp>
      <p:sp>
        <p:nvSpPr>
          <p:cNvPr id="92" name="Google Shape;92;p16"/>
          <p:cNvSpPr txBox="1">
            <a:spLocks noGrp="1"/>
          </p:cNvSpPr>
          <p:nvPr>
            <p:ph type="ftr" idx="11"/>
          </p:nvPr>
        </p:nvSpPr>
        <p:spPr>
          <a:xfrm>
            <a:off x="965289" y="274320"/>
            <a:ext cx="10455567" cy="736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GB" dirty="0"/>
              <a:t>7COM1079-2025  Student Group No: A 104   Names of Student Attendees  (all group should attend to get feedback): </a:t>
            </a:r>
            <a:endParaRPr dirty="0"/>
          </a:p>
        </p:txBody>
      </p:sp>
      <p:sp>
        <p:nvSpPr>
          <p:cNvPr id="93" name="Google Shape;93;p16"/>
          <p:cNvSpPr txBox="1">
            <a:spLocks noGrp="1"/>
          </p:cNvSpPr>
          <p:nvPr>
            <p:ph type="sldNum" idx="12"/>
          </p:nvPr>
        </p:nvSpPr>
        <p:spPr>
          <a:xfrm>
            <a:off x="10616400" y="779733"/>
            <a:ext cx="6228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</a:t>
            </a:fld>
            <a:endParaRPr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8275DA97-5166-7F4B-BC83-F50AC8BEDCD7}"/>
              </a:ext>
            </a:extLst>
          </p:cNvPr>
          <p:cNvSpPr>
            <a:spLocks noGrp="1"/>
          </p:cNvSpPr>
          <p:nvPr/>
        </p:nvSpPr>
        <p:spPr>
          <a:xfrm>
            <a:off x="953999" y="2002060"/>
            <a:ext cx="10176833" cy="37120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Font typeface="Arial" panose="020B0604020202020204" pitchFamily="34" charset="0"/>
              <a:buNone/>
              <a:defRPr sz="3600" b="1" kern="3000" spc="-1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Font typeface="Arial" panose="020B0604020202020204" pitchFamily="34" charset="0"/>
              <a:buNone/>
              <a:defRPr sz="2000" kern="2000" spc="-100" baseline="0">
                <a:solidFill>
                  <a:srgbClr val="20323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Font typeface="Arial" panose="020B0604020202020204" pitchFamily="34" charset="0"/>
              <a:buNone/>
              <a:defRPr sz="1800" kern="2000" spc="-100" baseline="0">
                <a:solidFill>
                  <a:srgbClr val="20323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ts val="216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rgbClr val="20323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ts val="216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1" kern="1200">
                <a:solidFill>
                  <a:srgbClr val="20323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Group Name: A 104                                                            Name of Student Presenting: Faraaz Malik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ubTitle" idx="1"/>
          </p:nvPr>
        </p:nvSpPr>
        <p:spPr>
          <a:xfrm>
            <a:off x="965288" y="1080637"/>
            <a:ext cx="10110240" cy="588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>
              <a:lnSpc>
                <a:spcPct val="120000"/>
              </a:lnSpc>
              <a:buSzPts val="2400"/>
            </a:pPr>
            <a:r>
              <a:rPr lang="en-GB" sz="2200" dirty="0">
                <a:latin typeface="22"/>
                <a:ea typeface="Calibri"/>
                <a:cs typeface="Calibri"/>
                <a:sym typeface="Calibri"/>
              </a:rPr>
              <a:t>We are using the dataset</a:t>
            </a:r>
            <a:r>
              <a:rPr lang="en-GB" sz="2200" dirty="0">
                <a:solidFill>
                  <a:srgbClr val="FF0000"/>
                </a:solidFill>
                <a:latin typeface="22"/>
                <a:ea typeface="Calibri"/>
                <a:cs typeface="Calibri"/>
                <a:sym typeface="Calibri"/>
              </a:rPr>
              <a:t> </a:t>
            </a:r>
            <a:r>
              <a:rPr lang="en-GB" sz="2200" dirty="0">
                <a:solidFill>
                  <a:srgbClr val="FF0000"/>
                </a:solidFill>
                <a:latin typeface="22"/>
              </a:rPr>
              <a:t>DS355 - Sleep_health_and_lifestyle_dataset.csv</a:t>
            </a:r>
            <a:r>
              <a:rPr lang="en-GB" sz="2200" dirty="0">
                <a:solidFill>
                  <a:srgbClr val="FF0000"/>
                </a:solidFill>
                <a:latin typeface="22"/>
                <a:ea typeface="Calibri"/>
                <a:cs typeface="Calibri"/>
                <a:sym typeface="Calibri"/>
              </a:rPr>
              <a:t> </a:t>
            </a:r>
            <a:r>
              <a:rPr lang="en-GB" sz="2200" dirty="0">
                <a:solidFill>
                  <a:schemeClr val="dk1"/>
                </a:solidFill>
                <a:latin typeface="22"/>
                <a:ea typeface="Calibri"/>
                <a:cs typeface="Calibri"/>
                <a:sym typeface="Calibri"/>
              </a:rPr>
              <a:t> to answer our Research Question  </a:t>
            </a:r>
            <a:r>
              <a:rPr lang="en-GB" sz="2200" dirty="0">
                <a:solidFill>
                  <a:srgbClr val="FF0000"/>
                </a:solidFill>
                <a:latin typeface="22"/>
                <a:ea typeface="Calibri"/>
                <a:cs typeface="Calibri"/>
                <a:sym typeface="Calibri"/>
              </a:rPr>
              <a:t>“Is there a difference in the median stress level between doctors and software engineers in the 27 to 59 age” </a:t>
            </a:r>
            <a:r>
              <a:rPr lang="en-GB" sz="2200" baseline="30000" dirty="0">
                <a:solidFill>
                  <a:schemeClr val="dk1"/>
                </a:solidFill>
                <a:latin typeface="22"/>
                <a:ea typeface="Calibri"/>
                <a:cs typeface="Calibri"/>
                <a:sym typeface="Calibri"/>
              </a:rPr>
              <a:t>1</a:t>
            </a:r>
            <a:endParaRPr lang="en-US" sz="2200">
              <a:solidFill>
                <a:schemeClr val="dk1"/>
              </a:solidFill>
              <a:latin typeface="22"/>
            </a:endParaRPr>
          </a:p>
          <a:p>
            <a:pPr marL="0" lvl="0" indent="0" algn="l" rtl="0">
              <a:lnSpc>
                <a:spcPct val="120000"/>
              </a:lnSpc>
              <a:spcBef>
                <a:spcPts val="992"/>
              </a:spcBef>
              <a:spcAft>
                <a:spcPts val="0"/>
              </a:spcAft>
              <a:buClr>
                <a:srgbClr val="FF0000"/>
              </a:buClr>
              <a:buSzPts val="2400"/>
              <a:buNone/>
            </a:pPr>
            <a:br>
              <a:rPr lang="en-GB" sz="2400" b="0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7"/>
          <p:cNvSpPr txBox="1">
            <a:spLocks noGrp="1"/>
          </p:cNvSpPr>
          <p:nvPr>
            <p:ph type="ftr" idx="11"/>
          </p:nvPr>
        </p:nvSpPr>
        <p:spPr>
          <a:xfrm>
            <a:off x="755462" y="548066"/>
            <a:ext cx="10104598" cy="242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GB" dirty="0"/>
              <a:t>7COM1079-2025  Student Group No:    A 104    Names of Student Group Attendees: All group members</a:t>
            </a:r>
            <a:endParaRPr dirty="0"/>
          </a:p>
        </p:txBody>
      </p:sp>
      <p:sp>
        <p:nvSpPr>
          <p:cNvPr id="101" name="Google Shape;101;p17"/>
          <p:cNvSpPr txBox="1">
            <a:spLocks noGrp="1"/>
          </p:cNvSpPr>
          <p:nvPr>
            <p:ph type="sldNum" idx="12"/>
          </p:nvPr>
        </p:nvSpPr>
        <p:spPr>
          <a:xfrm>
            <a:off x="10616400" y="791022"/>
            <a:ext cx="6228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</a:t>
            </a:fld>
            <a:endParaRPr/>
          </a:p>
        </p:txBody>
      </p:sp>
      <p:sp>
        <p:nvSpPr>
          <p:cNvPr id="102" name="Google Shape;102;p17"/>
          <p:cNvSpPr txBox="1"/>
          <p:nvPr/>
        </p:nvSpPr>
        <p:spPr>
          <a:xfrm>
            <a:off x="501041" y="5085731"/>
            <a:ext cx="11690959" cy="147732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 </a:t>
            </a:r>
            <a:r>
              <a:rPr lang="en-GB" sz="1800" b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Be sure you follow one of the three prescribed RQ Templates – identifying the type of statistical analysis you will be using.  If you do not have the correct RQ, we will stop your presentation here.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 </a:t>
            </a: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variable name in your RQ may be different from the column name in cases where the column names are abbreviations.  </a:t>
            </a:r>
            <a:endParaRPr sz="1800" b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3.4.</a:t>
            </a: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Be sure to identify which variable is your </a:t>
            </a:r>
            <a:r>
              <a:rPr lang="en-GB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dependent variable </a:t>
            </a: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and which one is your </a:t>
            </a:r>
            <a:r>
              <a:rPr lang="en-GB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independent variable </a:t>
            </a: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on this slide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7"/>
          <p:cNvSpPr txBox="1"/>
          <p:nvPr/>
        </p:nvSpPr>
        <p:spPr>
          <a:xfrm>
            <a:off x="756815" y="2858006"/>
            <a:ext cx="3913204" cy="1477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</a:rPr>
              <a:t>T</a:t>
            </a:r>
            <a:r>
              <a:rPr lang="en-GB" sz="1800" b="1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he dataset has </a:t>
            </a:r>
            <a:r>
              <a:rPr lang="en-GB" sz="1800" b="1" dirty="0">
                <a:solidFill>
                  <a:srgbClr val="FF0000"/>
                </a:solidFill>
              </a:rPr>
              <a:t>374</a:t>
            </a:r>
            <a:r>
              <a:rPr lang="en-GB" sz="1800" b="1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 rows and the variables we use are</a:t>
            </a:r>
            <a:r>
              <a:rPr lang="en-GB" sz="1800" b="1" dirty="0">
                <a:solidFill>
                  <a:srgbClr val="FF0000"/>
                </a:solidFill>
              </a:rPr>
              <a:t> Stress Level</a:t>
            </a:r>
            <a:r>
              <a:rPr lang="en-GB" sz="1800" b="1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 (dependent variable) and Occupation (independent variable</a:t>
            </a:r>
            <a:r>
              <a:rPr lang="en-GB" sz="1800" b="1" baseline="30000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r>
              <a:rPr lang="en-GB" sz="1800" b="1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).</a:t>
            </a:r>
            <a:endParaRPr lang="en-US" sz="1800" b="1"/>
          </a:p>
        </p:txBody>
      </p:sp>
      <p:cxnSp>
        <p:nvCxnSpPr>
          <p:cNvPr id="104" name="Google Shape;104;p17"/>
          <p:cNvCxnSpPr/>
          <p:nvPr/>
        </p:nvCxnSpPr>
        <p:spPr>
          <a:xfrm>
            <a:off x="5268160" y="3958225"/>
            <a:ext cx="631599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sm" len="sm"/>
            <a:tailEnd type="stealth" w="med" len="med"/>
          </a:ln>
        </p:spPr>
      </p:cxn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DDE58EE-0B20-4B86-F5B6-0F91301DAE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29665"/>
              </p:ext>
            </p:extLst>
          </p:nvPr>
        </p:nvGraphicFramePr>
        <p:xfrm>
          <a:off x="4549588" y="2308411"/>
          <a:ext cx="7554063" cy="2758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7826">
                  <a:extLst>
                    <a:ext uri="{9D8B030D-6E8A-4147-A177-3AD203B41FA5}">
                      <a16:colId xmlns:a16="http://schemas.microsoft.com/office/drawing/2014/main" val="3877638525"/>
                    </a:ext>
                  </a:extLst>
                </a:gridCol>
                <a:gridCol w="746995">
                  <a:extLst>
                    <a:ext uri="{9D8B030D-6E8A-4147-A177-3AD203B41FA5}">
                      <a16:colId xmlns:a16="http://schemas.microsoft.com/office/drawing/2014/main" val="2554293258"/>
                    </a:ext>
                  </a:extLst>
                </a:gridCol>
                <a:gridCol w="496956">
                  <a:extLst>
                    <a:ext uri="{9D8B030D-6E8A-4147-A177-3AD203B41FA5}">
                      <a16:colId xmlns:a16="http://schemas.microsoft.com/office/drawing/2014/main" val="4075122552"/>
                    </a:ext>
                  </a:extLst>
                </a:gridCol>
                <a:gridCol w="1300170">
                  <a:extLst>
                    <a:ext uri="{9D8B030D-6E8A-4147-A177-3AD203B41FA5}">
                      <a16:colId xmlns:a16="http://schemas.microsoft.com/office/drawing/2014/main" val="1433541503"/>
                    </a:ext>
                  </a:extLst>
                </a:gridCol>
                <a:gridCol w="793083">
                  <a:extLst>
                    <a:ext uri="{9D8B030D-6E8A-4147-A177-3AD203B41FA5}">
                      <a16:colId xmlns:a16="http://schemas.microsoft.com/office/drawing/2014/main" val="3953001528"/>
                    </a:ext>
                  </a:extLst>
                </a:gridCol>
                <a:gridCol w="652394">
                  <a:extLst>
                    <a:ext uri="{9D8B030D-6E8A-4147-A177-3AD203B41FA5}">
                      <a16:colId xmlns:a16="http://schemas.microsoft.com/office/drawing/2014/main" val="51307710"/>
                    </a:ext>
                  </a:extLst>
                </a:gridCol>
                <a:gridCol w="614019">
                  <a:extLst>
                    <a:ext uri="{9D8B030D-6E8A-4147-A177-3AD203B41FA5}">
                      <a16:colId xmlns:a16="http://schemas.microsoft.com/office/drawing/2014/main" val="466120850"/>
                    </a:ext>
                  </a:extLst>
                </a:gridCol>
                <a:gridCol w="788566">
                  <a:extLst>
                    <a:ext uri="{9D8B030D-6E8A-4147-A177-3AD203B41FA5}">
                      <a16:colId xmlns:a16="http://schemas.microsoft.com/office/drawing/2014/main" val="1041479191"/>
                    </a:ext>
                  </a:extLst>
                </a:gridCol>
                <a:gridCol w="793106">
                  <a:extLst>
                    <a:ext uri="{9D8B030D-6E8A-4147-A177-3AD203B41FA5}">
                      <a16:colId xmlns:a16="http://schemas.microsoft.com/office/drawing/2014/main" val="3445482437"/>
                    </a:ext>
                  </a:extLst>
                </a:gridCol>
                <a:gridCol w="650948">
                  <a:extLst>
                    <a:ext uri="{9D8B030D-6E8A-4147-A177-3AD203B41FA5}">
                      <a16:colId xmlns:a16="http://schemas.microsoft.com/office/drawing/2014/main" val="4197271246"/>
                    </a:ext>
                  </a:extLst>
                </a:gridCol>
              </a:tblGrid>
              <a:tr h="720034">
                <a:tc>
                  <a:txBody>
                    <a:bodyPr/>
                    <a:lstStyle/>
                    <a:p>
                      <a:r>
                        <a:rPr lang="en-GB" sz="1200" b="1" dirty="0"/>
                        <a:t>Person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Occupation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Sleep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Quality of Sleep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Stress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BMI 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Blood 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1200" b="1" dirty="0"/>
                        <a:t>Daily Steps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9934941"/>
                  </a:ext>
                </a:extLst>
              </a:tr>
              <a:tr h="453355">
                <a:tc>
                  <a:txBody>
                    <a:bodyPr/>
                    <a:lstStyle/>
                    <a:p>
                      <a:r>
                        <a:rPr lang="en-GB" sz="1200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Software 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Over-weight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1200" b="1" dirty="0"/>
                        <a:t>126/83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1200" b="1" dirty="0"/>
                        <a:t>4200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5842001"/>
                  </a:ext>
                </a:extLst>
              </a:tr>
              <a:tr h="333348">
                <a:tc>
                  <a:txBody>
                    <a:bodyPr/>
                    <a:lstStyle/>
                    <a:p>
                      <a:r>
                        <a:rPr lang="en-GB" sz="12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1200" b="1" i="0" u="none" strike="noStrike" noProof="0" dirty="0">
                          <a:solidFill>
                            <a:srgbClr val="203232"/>
                          </a:solidFill>
                          <a:latin typeface="Arial"/>
                        </a:rPr>
                        <a:t>Male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Doctor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125/80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1200" b="1" dirty="0"/>
                        <a:t>10000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2651279"/>
                  </a:ext>
                </a:extLst>
              </a:tr>
              <a:tr h="333348">
                <a:tc>
                  <a:txBody>
                    <a:bodyPr/>
                    <a:lstStyle/>
                    <a:p>
                      <a:r>
                        <a:rPr lang="en-GB" sz="1200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1200" b="1" i="0" u="none" strike="noStrike" noProof="0" dirty="0">
                          <a:solidFill>
                            <a:srgbClr val="203232"/>
                          </a:solidFill>
                          <a:latin typeface="Arial"/>
                        </a:rPr>
                        <a:t>Male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1200" b="1" dirty="0"/>
                        <a:t>Doctor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125/80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1200" b="1" dirty="0"/>
                        <a:t>10000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176204"/>
                  </a:ext>
                </a:extLst>
              </a:tr>
              <a:tr h="453355">
                <a:tc>
                  <a:txBody>
                    <a:bodyPr/>
                    <a:lstStyle/>
                    <a:p>
                      <a:r>
                        <a:rPr lang="en-GB" sz="1200" b="1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1200" b="1" i="0" u="none" strike="noStrike" noProof="0" dirty="0">
                          <a:solidFill>
                            <a:srgbClr val="203232"/>
                          </a:solidFill>
                          <a:latin typeface="Arial"/>
                        </a:rPr>
                        <a:t>Male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Sales Representative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Obese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140/90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1200" b="1" dirty="0"/>
                        <a:t>3000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2966668"/>
                  </a:ext>
                </a:extLst>
              </a:tr>
              <a:tr h="45335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1200" b="1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1200" b="1" i="0" u="none" strike="noStrike" noProof="0" dirty="0">
                          <a:solidFill>
                            <a:srgbClr val="203232"/>
                          </a:solidFill>
                          <a:latin typeface="Arial"/>
                        </a:rPr>
                        <a:t>Male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1200" b="1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1200" b="1" i="0" u="none" strike="noStrike" noProof="0" dirty="0">
                          <a:solidFill>
                            <a:srgbClr val="203232"/>
                          </a:solidFill>
                          <a:latin typeface="Arial"/>
                        </a:rPr>
                        <a:t>Sales Representative</a:t>
                      </a:r>
                      <a:endParaRPr lang="en-GB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1200" b="1" dirty="0"/>
                        <a:t>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1200" b="1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1200" b="1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1200" b="1" dirty="0"/>
                        <a:t>Obese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1200" b="1" dirty="0"/>
                        <a:t>140/90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1200" b="1" dirty="0"/>
                        <a:t>3000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027715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endParaRPr lang="en-GB"/>
          </a:p>
        </p:txBody>
      </p:sp>
      <p:pic>
        <p:nvPicPr>
          <p:cNvPr id="5" name="Picture 4" descr="doc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074" y="1711922"/>
            <a:ext cx="6042260" cy="4974079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8BE9D2FB-1A51-C1E4-A8F8-6ED9DAC0A642}"/>
              </a:ext>
            </a:extLst>
          </p:cNvPr>
          <p:cNvSpPr txBox="1">
            <a:spLocks/>
          </p:cNvSpPr>
          <p:nvPr/>
        </p:nvSpPr>
        <p:spPr>
          <a:xfrm>
            <a:off x="760216" y="794172"/>
            <a:ext cx="9572196" cy="615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1800"/>
              <a:buFont typeface="Arial"/>
              <a:buNone/>
              <a:defRPr sz="3600" b="1" i="0" u="none" strike="noStrike" cap="none">
                <a:solidFill>
                  <a:srgbClr val="20323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800" dirty="0"/>
              <a:t>Graph 1: Histogram for stress level among doctors</a:t>
            </a:r>
          </a:p>
        </p:txBody>
      </p:sp>
      <p:sp>
        <p:nvSpPr>
          <p:cNvPr id="10" name="Google Shape;100;p17">
            <a:extLst>
              <a:ext uri="{FF2B5EF4-FFF2-40B4-BE49-F238E27FC236}">
                <a16:creationId xmlns:a16="http://schemas.microsoft.com/office/drawing/2014/main" id="{CCF9939D-5C3A-A412-C00F-99B491FF974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755462" y="548066"/>
            <a:ext cx="10104598" cy="242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GB" dirty="0"/>
              <a:t>7COM1079-2025  Student Group No:    A 104    Names of Student Group Attendees: All group members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endParaRPr lang="en-GB"/>
          </a:p>
        </p:txBody>
      </p:sp>
      <p:pic>
        <p:nvPicPr>
          <p:cNvPr id="5" name="Picture 4" descr="Eng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201" y="1547405"/>
            <a:ext cx="5888024" cy="5116149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B2CDF961-E94C-A13A-F1D7-B76097DC36DF}"/>
              </a:ext>
            </a:extLst>
          </p:cNvPr>
          <p:cNvSpPr txBox="1">
            <a:spLocks/>
          </p:cNvSpPr>
          <p:nvPr/>
        </p:nvSpPr>
        <p:spPr>
          <a:xfrm>
            <a:off x="760216" y="794172"/>
            <a:ext cx="9770980" cy="681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1800"/>
              <a:buFont typeface="Arial"/>
              <a:buNone/>
              <a:defRPr sz="3600" b="1" i="0" u="none" strike="noStrike" cap="none">
                <a:solidFill>
                  <a:srgbClr val="20323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800" dirty="0"/>
              <a:t>Graph 2: Histogram for stress level among engineers</a:t>
            </a:r>
            <a:endParaRPr lang="en-US" dirty="0"/>
          </a:p>
        </p:txBody>
      </p:sp>
      <p:sp>
        <p:nvSpPr>
          <p:cNvPr id="12" name="Google Shape;100;p17">
            <a:extLst>
              <a:ext uri="{FF2B5EF4-FFF2-40B4-BE49-F238E27FC236}">
                <a16:creationId xmlns:a16="http://schemas.microsoft.com/office/drawing/2014/main" id="{EC933DAC-B39E-AF9D-1A78-C3C92724B31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755462" y="548066"/>
            <a:ext cx="10104598" cy="242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GB" dirty="0"/>
              <a:t>7COM1079-2025  Student Group No:    A 104    Names of Student Group Attendees: All group members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5ACE6-A6B8-AB84-607C-EBA39374A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91904C-98A1-489B-4E1A-E77DBBFC21E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endParaRPr lang="en-GB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4844C1B-542A-E25B-66FA-5CEBB247C19F}"/>
              </a:ext>
            </a:extLst>
          </p:cNvPr>
          <p:cNvSpPr txBox="1">
            <a:spLocks/>
          </p:cNvSpPr>
          <p:nvPr/>
        </p:nvSpPr>
        <p:spPr>
          <a:xfrm>
            <a:off x="738130" y="893564"/>
            <a:ext cx="10477759" cy="81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03232"/>
              </a:buClr>
              <a:buSzPts val="1800"/>
              <a:buFont typeface="Arial"/>
              <a:buNone/>
              <a:defRPr sz="3600" b="1" i="0" u="none" strike="noStrike" cap="none">
                <a:solidFill>
                  <a:srgbClr val="20323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800" dirty="0"/>
              <a:t>Graph 3: Box Plot for stress levels among both occupations</a:t>
            </a:r>
            <a:endParaRPr lang="en-US" dirty="0"/>
          </a:p>
        </p:txBody>
      </p:sp>
      <p:pic>
        <p:nvPicPr>
          <p:cNvPr id="10" name="Google Shape;114;p18" descr="A chart of stress levels between doctors and engineers&#10;&#10;AI-generated content may be incorrect.">
            <a:extLst>
              <a:ext uri="{FF2B5EF4-FFF2-40B4-BE49-F238E27FC236}">
                <a16:creationId xmlns:a16="http://schemas.microsoft.com/office/drawing/2014/main" id="{34F49746-D336-F738-3860-38FF16952E3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47282" y="1899234"/>
            <a:ext cx="6894898" cy="444325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100;p17">
            <a:extLst>
              <a:ext uri="{FF2B5EF4-FFF2-40B4-BE49-F238E27FC236}">
                <a16:creationId xmlns:a16="http://schemas.microsoft.com/office/drawing/2014/main" id="{3F297785-7B5E-D6A8-80A6-0F99F8406F9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755462" y="548066"/>
            <a:ext cx="10104598" cy="242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GB" dirty="0"/>
              <a:t>7COM1079-2025  Student Group No:    A 104    Names of Student Group Attendees: All group members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03470934"/>
      </p:ext>
    </p:extLst>
  </p:cSld>
  <p:clrMapOvr>
    <a:masterClrMapping/>
  </p:clrMapOvr>
</p:sld>
</file>

<file path=ppt/theme/theme1.xml><?xml version="1.0" encoding="utf-8"?>
<a:theme xmlns:a="http://schemas.openxmlformats.org/drawingml/2006/main" name="Herts Theme">
  <a:themeElements>
    <a:clrScheme name="Custom 2">
      <a:dk1>
        <a:srgbClr val="203232"/>
      </a:dk1>
      <a:lt1>
        <a:srgbClr val="FFFFFF"/>
      </a:lt1>
      <a:dk2>
        <a:srgbClr val="203232"/>
      </a:dk2>
      <a:lt2>
        <a:srgbClr val="FFFFFF"/>
      </a:lt2>
      <a:accent1>
        <a:srgbClr val="9C5FB5"/>
      </a:accent1>
      <a:accent2>
        <a:srgbClr val="00B9E4"/>
      </a:accent2>
      <a:accent3>
        <a:srgbClr val="F53F5B"/>
      </a:accent3>
      <a:accent4>
        <a:srgbClr val="0073CF"/>
      </a:accent4>
      <a:accent5>
        <a:srgbClr val="45B382"/>
      </a:accent5>
      <a:accent6>
        <a:srgbClr val="FFCF20"/>
      </a:accent6>
      <a:hlink>
        <a:srgbClr val="0073CF"/>
      </a:hlink>
      <a:folHlink>
        <a:srgbClr val="9C5FB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296</Words>
  <Application>Microsoft Office PowerPoint</Application>
  <PresentationFormat>Widescreen</PresentationFormat>
  <Paragraphs>100</Paragraphs>
  <Slides>5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Herts Theme</vt:lpstr>
      <vt:lpstr>Visualization and Analysis –  Tutorial Presentation for Feedback Date: 01-12-2025 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Visualization and Analysis –  Tutorial Presentation for Feedback Date:</dc:title>
  <dc:creator>Leemah Ayo</dc:creator>
  <cp:lastModifiedBy>Owner01</cp:lastModifiedBy>
  <cp:revision>98</cp:revision>
  <dcterms:modified xsi:type="dcterms:W3CDTF">2025-12-01T12:42:12Z</dcterms:modified>
</cp:coreProperties>
</file>